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2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82" r:id="rId29"/>
    <p:sldId id="256" r:id="rId2"/>
    <p:sldId id="273" r:id="rId3"/>
    <p:sldId id="272" r:id="rId4"/>
    <p:sldId id="259" r:id="rId5"/>
    <p:sldId id="271" r:id="rId6"/>
    <p:sldId id="260" r:id="rId7"/>
    <p:sldId id="261" r:id="rId8"/>
    <p:sldId id="262" r:id="rId9"/>
    <p:sldId id="263" r:id="rId10"/>
    <p:sldId id="276" r:id="rId11"/>
    <p:sldId id="277" r:id="rId12"/>
    <p:sldId id="264" r:id="rId13"/>
    <p:sldId id="279" r:id="rId14"/>
    <p:sldId id="280" r:id="rId15"/>
    <p:sldId id="281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51435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45F04-4586-0706-60F3-CE27B6829EA6}" v="11" dt="2026-06-01T12:22:42.002"/>
    <p1510:client id="{9F1C0C1D-67FA-9C39-B247-9B96F7CD4BBA}" v="16" dt="2026-06-02T08:20:28.062"/>
    <p1510:client id="{FC325B78-BED5-2B30-0AEF-1244480D730F}" v="2345" dt="2026-06-02T06:28:58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26" Type="http://schemas.openxmlformats.org/officeDocument/2006/relationships/theme" Target="theme/theme1.xml" /><ns0:Relationship Id="rId3" Type="http://schemas.openxmlformats.org/officeDocument/2006/relationships/slide" Target="slides/slide2.xml" /><ns0:Relationship Id="rId21" Type="http://schemas.openxmlformats.org/officeDocument/2006/relationships/slide" Target="slides/slide20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viewProps" Target="viewProps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slide" Target="slides/slide19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presProps" Target="presProps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23" Type="http://schemas.openxmlformats.org/officeDocument/2006/relationships/notesMaster" Target="notesMasters/notesMaster1.xml" /><ns0:Relationship Id="rId28" Type="http://schemas.microsoft.com/office/2015/10/relationships/revisionInfo" Target="revisionInfo.xml" /><ns0:Relationship Id="rId10" Type="http://schemas.openxmlformats.org/officeDocument/2006/relationships/slide" Target="slides/slide9.xml" /><ns0:Relationship Id="rId19" Type="http://schemas.openxmlformats.org/officeDocument/2006/relationships/slide" Target="slides/slide18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2" Type="http://schemas.openxmlformats.org/officeDocument/2006/relationships/slide" Target="slides/slide21.xml" /><ns0:Relationship Id="rId27" Type="http://schemas.openxmlformats.org/officeDocument/2006/relationships/tableStyles" Target="tableStyles.xml" /><ns0:Relationship Id="rId29" Type="http://schemas.openxmlformats.org/officeDocument/2006/relationships/slide" Target="slides/slide22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Image Placeholder 1">
            <a:extLst>
              <a:ext uri="{FF2B5EF4-FFF2-40B4-BE49-F238E27FC236}">
                <a16:creationId xmlns:a16="http://schemas.microsoft.com/office/drawing/2014/main" id="{16296737-BF1D-4B99-7A04-B00FFD8D2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1" name="Notes Placeholder 2">
            <a:extLst>
              <a:ext uri="{FF2B5EF4-FFF2-40B4-BE49-F238E27FC236}">
                <a16:creationId xmlns:a16="http://schemas.microsoft.com/office/drawing/2014/main" id="{3A12F601-A85F-59A5-ABDE-F03D16E85A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52" name="Slide Number Placeholder 3">
            <a:extLst>
              <a:ext uri="{FF2B5EF4-FFF2-40B4-BE49-F238E27FC236}">
                <a16:creationId xmlns:a16="http://schemas.microsoft.com/office/drawing/2014/main" id="{3FA8461F-A031-0764-83BD-640A0F978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56FAB55B-E7B8-4420-BCB2-C61592A1069A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7E74A275-93BF-B617-ABEE-1D3DBCD3E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75C88617-7C87-7444-1D7F-7F0F63DDAC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900E4193-7FF8-FAE3-8786-DA13D7F82A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2756A5E-1857-4285-A4BF-FDBDCE9B8E0C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529F-26FC-3D4E-E9E6-66D3003B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3E00209-7C7B-CE8B-F61E-EAE33A7CE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2D747FC0-0108-8C5E-B23D-669A23F0F0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82964A10-90F4-DDCA-E0AC-60CC0BBBEF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386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2460AB4-2005-FD32-2823-48178269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0F50308-520C-84BD-60FB-00A071525D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72AA848-257F-DC5D-3576-79A5718FB4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2460AB4-2005-FD32-2823-48178269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0F50308-520C-84BD-60FB-00A071525D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72AA848-257F-DC5D-3576-79A5718FB4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2C223553-82D1-437B-B27B-A853F4568471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5451C6A-2E56-4825-6BF9-2A578936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ADF12E2D-B809-4DA9-4760-FB1B5C6C40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541ECF5-6504-1F3C-FA00-ADB31D09CC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AE8D5D7F-981E-4CAB-8696-09CE676CE2D5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611D990-C3BF-86EA-6278-403C5CE08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46C0E3A-43A2-7135-4C27-42B818FF28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28871D9-D186-7516-DF06-6C4E75FE75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589CE6D-62BA-4665-96E4-656B4EB18430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22789E71-F0ED-21E4-644C-E857D3029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1F469F7B-333E-7CB0-7C5D-1D871A620E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6A82A5DD-5780-C9F3-B833-111F8572AE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3F9FC2DC-D35D-49B0-8C7C-317C53CA782F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AA44B9EC-630F-7FFC-FAD1-7E9FB3EE0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164447E-1DF3-3335-7D30-F9911E3C41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0B4F3A2-3005-CBB8-D5BD-A91A63DCA4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7368-87AD-1986-65D9-89AD2CF2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4EF7353-B7C0-AD05-0A42-90CF22558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A315B30C-AFF1-1524-392C-2584E534A9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9F35A86-9BB0-675C-314E-014688DF8C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049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8E9F-8FDA-9A83-F451-80D26497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26B68022-2A8D-6960-4652-D46D039A1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1404968-7478-E324-E167-CC6AC1C23B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23C93EE-2EFC-2787-7B01-F3060DDDC6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C2AAF27-018D-45C1-BBBD-1B05DCE9DC6C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884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913164F0-4B17-48C7-C219-5677E9ED4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BB7AF4A-88CD-1CB4-F044-F83C7EBE06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6834F4A-9394-CA1E-EAF5-AE9C2D46BA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213C-3185-E42E-A6FE-52C0C87E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E2710A1-F79A-992F-A46D-8B494EAF3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81E8F3D-DA35-B4FD-A514-4DA349B34B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C0792C0-5517-61EC-43B8-8AAFD21720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263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C928-7346-9A1C-489E-ED5E178A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4B606246-902D-63FA-DCB7-89E84B549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81BA9B3-B644-7DEC-6C8C-EC342A69F7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7F75C84-2A17-AF6D-EE19-6F5789227A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B95EF48-7333-42BE-A8D5-D270FEA59858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3259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890F-E33D-DEDF-3AD2-CDA52E26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A72EEF2-86B6-A08A-198A-CBE6BCF1C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04F6B61C-3102-1062-96F7-1A071F18F4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3A497964-EA1C-693B-4EB6-5DA25FB14F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97DDB02-B09A-49CA-B774-1A5C9F60CEEA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19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F65E564B-B7C3-163F-F5E0-D9B559E26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8CAFCDE2-883D-0883-AC49-4F6B8074BA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D4562919-7CE4-D6A7-8FDA-D7B3532A3B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97DDB02-B09A-49CA-B774-1A5C9F60CEEA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D7B98228-B3D8-A4A2-5BAC-49BB6C787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D3798B4-02D2-C5BA-6584-027FE53C70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5168405-288C-AD55-0646-7F20945B4B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C6F9B14-D188-461A-B060-F94DB0EBAA64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0AAD913-659A-B1E1-BC00-9B5048B7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573766B-C592-10BE-3A07-8021476A4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675A443-98DF-C4AF-6CB4-AD09F28993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0C64CEA2-D238-4A7A-99BC-931679C29803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6593778C-2DFA-FE6C-C3BB-C921B4D38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CF0BB56-117C-821A-B013-D9A614EA00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A23313B4-7E83-B2E3-AABF-82B8143532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80BB7E8B-329C-40FC-A563-91027DE5DFB4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2C038FEF-02B0-F4FE-038A-E30E058E2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7F5F1401-1CF9-1994-5949-812100C091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B5F3C3DA-AEA6-59BA-A49E-4A33198754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14898D5A-17C6-48F1-9482-23A468A2A93F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F82BF601-3C93-F0B7-978F-FB6FEE032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9B9281EF-6B4E-1AC6-B361-85DCC25265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75D41102-EEE0-7A67-D388-BC5B55B340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3F6F492-EF5B-4A50-B565-42A9282DF734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73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>
            <a:extLst>
              <a:ext uri="{FF2B5EF4-FFF2-40B4-BE49-F238E27FC236}">
                <a16:creationId xmlns:a16="http://schemas.microsoft.com/office/drawing/2014/main" id="{74898C02-25C9-A231-64AE-6058CDA87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363" y="-2011363"/>
            <a:ext cx="5029201" cy="5029201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">
            <a:extLst>
              <a:ext uri="{FF2B5EF4-FFF2-40B4-BE49-F238E27FC236}">
                <a16:creationId xmlns:a16="http://schemas.microsoft.com/office/drawing/2014/main" id="{65DCCB45-5870-124F-B7C5-26C4D5005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3840163" cy="3840163"/>
          </a:xfrm>
          <a:prstGeom prst="ellipse">
            <a:avLst/>
          </a:prstGeom>
          <a:solidFill>
            <a:srgbClr val="5252E0">
              <a:alpha val="67842"/>
            </a:srgbClr>
          </a:solidFill>
          <a:ln w="12700">
            <a:solidFill>
              <a:srgbClr val="5252E0">
                <a:alpha val="67842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2">
            <a:extLst>
              <a:ext uri="{FF2B5EF4-FFF2-40B4-BE49-F238E27FC236}">
                <a16:creationId xmlns:a16="http://schemas.microsoft.com/office/drawing/2014/main" id="{F7D2F208-7F0D-C394-16F9-F70F035A0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838" y="-731838"/>
            <a:ext cx="2652713" cy="2652713"/>
          </a:xfrm>
          <a:prstGeom prst="ellipse">
            <a:avLst/>
          </a:prstGeom>
          <a:solidFill>
            <a:srgbClr val="2929CC">
              <a:alpha val="78038"/>
            </a:srgbClr>
          </a:solidFill>
          <a:ln w="12700">
            <a:solidFill>
              <a:srgbClr val="2929CC">
                <a:alpha val="78038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3">
            <a:extLst>
              <a:ext uri="{FF2B5EF4-FFF2-40B4-BE49-F238E27FC236}">
                <a16:creationId xmlns:a16="http://schemas.microsoft.com/office/drawing/2014/main" id="{F1C0891E-2776-E556-4798-801162F50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274638"/>
            <a:ext cx="273050" cy="274637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4">
            <a:extLst>
              <a:ext uri="{FF2B5EF4-FFF2-40B4-BE49-F238E27FC236}">
                <a16:creationId xmlns:a16="http://schemas.microsoft.com/office/drawing/2014/main" id="{4D1F7E51-2192-86AF-9FB1-3CAA160AD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06475"/>
            <a:ext cx="457200" cy="45720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5">
            <a:extLst>
              <a:ext uri="{FF2B5EF4-FFF2-40B4-BE49-F238E27FC236}">
                <a16:creationId xmlns:a16="http://schemas.microsoft.com/office/drawing/2014/main" id="{D643E754-BD4F-9B96-E6E5-F330B1561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0"/>
            <a:ext cx="201613" cy="20161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6">
            <a:extLst>
              <a:ext uri="{FF2B5EF4-FFF2-40B4-BE49-F238E27FC236}">
                <a16:creationId xmlns:a16="http://schemas.microsoft.com/office/drawing/2014/main" id="{C19C9C40-99D7-9BBC-A0A5-C3843E5F2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65100"/>
            <a:ext cx="1098550" cy="4572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" name="Text 7">
            <a:extLst>
              <a:ext uri="{FF2B5EF4-FFF2-40B4-BE49-F238E27FC236}">
                <a16:creationId xmlns:a16="http://schemas.microsoft.com/office/drawing/2014/main" id="{C4BBAFE5-20AA-EAA4-22C2-1E41EC88F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651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 b="1">
                <a:solidFill>
                  <a:srgbClr val="FFFFFF"/>
                </a:solidFill>
              </a:rPr>
              <a:t>2026</a:t>
            </a:r>
            <a:endParaRPr lang="en-US" altLang="en-US" sz="1500"/>
          </a:p>
        </p:txBody>
      </p:sp>
      <p:sp>
        <p:nvSpPr>
          <p:cNvPr id="1034" name="Shape 8">
            <a:extLst>
              <a:ext uri="{FF2B5EF4-FFF2-40B4-BE49-F238E27FC236}">
                <a16:creationId xmlns:a16="http://schemas.microsoft.com/office/drawing/2014/main" id="{EA2D1501-B74E-1D84-D8E3-070B8F97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006475"/>
            <a:ext cx="639762" cy="639763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" name="Text 9">
            <a:extLst>
              <a:ext uri="{FF2B5EF4-FFF2-40B4-BE49-F238E27FC236}">
                <a16:creationId xmlns:a16="http://schemas.microsoft.com/office/drawing/2014/main" id="{47D8B79B-8D1E-5BD6-258C-9A32CD93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06475"/>
            <a:ext cx="73183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000000"/>
                </a:solidFill>
              </a:rPr>
              <a:t>🛡️</a:t>
            </a:r>
            <a:endParaRPr lang="en-US" altLang="en-US" sz="2400"/>
          </a:p>
        </p:txBody>
      </p:sp>
      <p:sp>
        <p:nvSpPr>
          <p:cNvPr id="1036" name="Text 10">
            <a:extLst>
              <a:ext uri="{FF2B5EF4-FFF2-40B4-BE49-F238E27FC236}">
                <a16:creationId xmlns:a16="http://schemas.microsoft.com/office/drawing/2014/main" id="{D2DACD5B-2B06-AE88-9C92-750AB8326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92275"/>
            <a:ext cx="8321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5000" b="1">
                <a:solidFill>
                  <a:srgbClr val="2929CC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CyberGuard</a:t>
            </a:r>
            <a:endParaRPr lang="en-US" altLang="en-US" sz="5000"/>
          </a:p>
        </p:txBody>
      </p:sp>
      <p:sp>
        <p:nvSpPr>
          <p:cNvPr id="1037" name="Shape 11">
            <a:extLst>
              <a:ext uri="{FF2B5EF4-FFF2-40B4-BE49-F238E27FC236}">
                <a16:creationId xmlns:a16="http://schemas.microsoft.com/office/drawing/2014/main" id="{DED42C56-566C-44C4-F472-A7E931910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33663"/>
            <a:ext cx="8321675" cy="3651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BC4959-1AEA-1126-8805-E96F4E156C5A}"/>
              </a:ext>
            </a:extLst>
          </p:cNvPr>
          <p:cNvSpPr/>
          <p:nvPr/>
        </p:nvSpPr>
        <p:spPr>
          <a:xfrm>
            <a:off x="457200" y="2743200"/>
            <a:ext cx="7772400" cy="82232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srgbClr val="111827"/>
                </a:solidFill>
                <a:latin typeface="+mn-lt"/>
              </a:rPr>
              <a:t>Conception d'une plateforme pédagogique de cybersécurité</a:t>
            </a:r>
            <a:endParaRPr lang="en-US" sz="135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srgbClr val="111827"/>
                </a:solidFill>
                <a:latin typeface="+mn-lt"/>
              </a:rPr>
              <a:t>pour la simulation et la détection des cyberattaques dans une application web</a:t>
            </a:r>
            <a:endParaRPr lang="en-US" sz="1350" dirty="0">
              <a:latin typeface="+mn-lt"/>
            </a:endParaRPr>
          </a:p>
        </p:txBody>
      </p:sp>
      <p:sp>
        <p:nvSpPr>
          <p:cNvPr id="1039" name="Shape 13">
            <a:extLst>
              <a:ext uri="{FF2B5EF4-FFF2-40B4-BE49-F238E27FC236}">
                <a16:creationId xmlns:a16="http://schemas.microsoft.com/office/drawing/2014/main" id="{7E2A694C-2338-2B16-AA1C-4198ADFCB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6650"/>
            <a:ext cx="2422525" cy="32861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0" name="Text 14">
            <a:extLst>
              <a:ext uri="{FF2B5EF4-FFF2-40B4-BE49-F238E27FC236}">
                <a16:creationId xmlns:a16="http://schemas.microsoft.com/office/drawing/2014/main" id="{E9C6E94B-F9B2-55F2-1B9C-3DD08416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6650"/>
            <a:ext cx="24225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🔒 Authentification OTP</a:t>
            </a:r>
            <a:endParaRPr lang="en-US" altLang="en-US" sz="1000"/>
          </a:p>
        </p:txBody>
      </p:sp>
      <p:sp>
        <p:nvSpPr>
          <p:cNvPr id="1041" name="Shape 15">
            <a:extLst>
              <a:ext uri="{FF2B5EF4-FFF2-40B4-BE49-F238E27FC236}">
                <a16:creationId xmlns:a16="http://schemas.microsoft.com/office/drawing/2014/main" id="{B0E7B8AC-1AC0-94B7-DC3D-ACB004ED4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76650"/>
            <a:ext cx="2422525" cy="32861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2" name="Text 16">
            <a:extLst>
              <a:ext uri="{FF2B5EF4-FFF2-40B4-BE49-F238E27FC236}">
                <a16:creationId xmlns:a16="http://schemas.microsoft.com/office/drawing/2014/main" id="{8607CBBB-0343-57A9-3FDD-16EADB64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3676650"/>
            <a:ext cx="24225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🔍 Détection d'attaques</a:t>
            </a:r>
            <a:endParaRPr lang="en-US" altLang="en-US" sz="1000"/>
          </a:p>
        </p:txBody>
      </p:sp>
      <p:sp>
        <p:nvSpPr>
          <p:cNvPr id="1043" name="Shape 17">
            <a:extLst>
              <a:ext uri="{FF2B5EF4-FFF2-40B4-BE49-F238E27FC236}">
                <a16:creationId xmlns:a16="http://schemas.microsoft.com/office/drawing/2014/main" id="{02230B49-110B-EC56-0071-72C4F9F32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676650"/>
            <a:ext cx="2424112" cy="32861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" name="Text 18">
            <a:extLst>
              <a:ext uri="{FF2B5EF4-FFF2-40B4-BE49-F238E27FC236}">
                <a16:creationId xmlns:a16="http://schemas.microsoft.com/office/drawing/2014/main" id="{BFF52736-0DF7-17DD-478D-78BC1CEE5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676650"/>
            <a:ext cx="2424112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>
                <a:solidFill>
                  <a:srgbClr val="FFFFFF"/>
                </a:solidFill>
              </a:rPr>
              <a:t>📊 Supervision SOC</a:t>
            </a:r>
            <a:endParaRPr lang="en-US" altLang="en-US" sz="1000"/>
          </a:p>
        </p:txBody>
      </p:sp>
      <p:sp>
        <p:nvSpPr>
          <p:cNvPr id="1045" name="Shape 19">
            <a:extLst>
              <a:ext uri="{FF2B5EF4-FFF2-40B4-BE49-F238E27FC236}">
                <a16:creationId xmlns:a16="http://schemas.microsoft.com/office/drawing/2014/main" id="{373C0BF9-3A04-5BB8-F96C-6E9B05578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14800"/>
            <a:ext cx="1828800" cy="3651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4CB86B-CD1E-AF49-7160-A52A1387974C}"/>
              </a:ext>
            </a:extLst>
          </p:cNvPr>
          <p:cNvSpPr/>
          <p:nvPr/>
        </p:nvSpPr>
        <p:spPr>
          <a:xfrm>
            <a:off x="457200" y="4224338"/>
            <a:ext cx="8321675" cy="68580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6B7280"/>
                </a:solidFill>
                <a:latin typeface="+mn-lt"/>
              </a:rPr>
              <a:t>FATOMBI Olivier  &amp;  GUERE Adolphe</a:t>
            </a:r>
            <a:endParaRPr lang="en-US" sz="105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6B7280"/>
                </a:solidFill>
                <a:latin typeface="+mn-lt"/>
              </a:rPr>
              <a:t>Licence Professionnelle SSRI  ·  Institut Universitaire Les Cours Sonou  ·  Mai 2026</a:t>
            </a:r>
            <a:endParaRPr lang="en-US" sz="105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0">
            <a:extLst>
              <a:ext uri="{FF2B5EF4-FFF2-40B4-BE49-F238E27FC236}">
                <a16:creationId xmlns:a16="http://schemas.microsoft.com/office/drawing/2014/main" id="{162339EF-55F5-504B-B23A-9B22A370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01613"/>
            <a:ext cx="77724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600" b="1" dirty="0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Plan de </a:t>
            </a:r>
            <a:r>
              <a:rPr lang="en-US" altLang="en-US" sz="2600" b="1" dirty="0" err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Présentation</a:t>
            </a:r>
            <a:endParaRPr lang="en-US" altLang="en-US" sz="2600" dirty="0" err="1"/>
          </a:p>
        </p:txBody>
      </p:sp>
      <p:sp>
        <p:nvSpPr>
          <p:cNvPr id="3075" name="Shape 1">
            <a:extLst>
              <a:ext uri="{FF2B5EF4-FFF2-40B4-BE49-F238E27FC236}">
                <a16:creationId xmlns:a16="http://schemas.microsoft.com/office/drawing/2014/main" id="{F31C61FD-A4D9-3983-E0CB-6B59308D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49300"/>
            <a:ext cx="8229600" cy="36513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6" name="Shape 2">
            <a:extLst>
              <a:ext uri="{FF2B5EF4-FFF2-40B4-BE49-F238E27FC236}">
                <a16:creationId xmlns:a16="http://schemas.microsoft.com/office/drawing/2014/main" id="{660CAC65-CE48-5B75-5CBE-5245A1890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87425"/>
            <a:ext cx="457200" cy="384175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Text 3">
            <a:extLst>
              <a:ext uri="{FF2B5EF4-FFF2-40B4-BE49-F238E27FC236}">
                <a16:creationId xmlns:a16="http://schemas.microsoft.com/office/drawing/2014/main" id="{1ACC6E77-AF48-0DF5-ED65-E4D4E7D1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87425"/>
            <a:ext cx="45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FFFFFF"/>
                </a:solidFill>
              </a:rPr>
              <a:t>01</a:t>
            </a:r>
            <a:endParaRPr lang="en-US" altLang="en-US" sz="1200"/>
          </a:p>
        </p:txBody>
      </p:sp>
      <p:sp>
        <p:nvSpPr>
          <p:cNvPr id="3078" name="Shape 4">
            <a:extLst>
              <a:ext uri="{FF2B5EF4-FFF2-40B4-BE49-F238E27FC236}">
                <a16:creationId xmlns:a16="http://schemas.microsoft.com/office/drawing/2014/main" id="{0AF4A9DD-17F2-B018-EB14-87C68CB1F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06475"/>
            <a:ext cx="347662" cy="3460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9" name="Text 5">
            <a:extLst>
              <a:ext uri="{FF2B5EF4-FFF2-40B4-BE49-F238E27FC236}">
                <a16:creationId xmlns:a16="http://schemas.microsoft.com/office/drawing/2014/main" id="{EAF31920-37AE-DE0A-A579-73E3267C2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1006475"/>
            <a:ext cx="4206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rgbClr val="000000"/>
                </a:solidFill>
              </a:rPr>
              <a:t>🌐</a:t>
            </a:r>
            <a:endParaRPr lang="en-US" altLang="en-US" sz="1500"/>
          </a:p>
        </p:txBody>
      </p:sp>
      <p:sp>
        <p:nvSpPr>
          <p:cNvPr id="3080" name="Text 6">
            <a:extLst>
              <a:ext uri="{FF2B5EF4-FFF2-40B4-BE49-F238E27FC236}">
                <a16:creationId xmlns:a16="http://schemas.microsoft.com/office/drawing/2014/main" id="{F86548CF-E352-2ACD-44FE-6F33181D7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42988"/>
            <a:ext cx="274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00" dirty="0" err="1">
                <a:solidFill>
                  <a:srgbClr val="111827"/>
                </a:solidFill>
              </a:rPr>
              <a:t>Contexte</a:t>
            </a:r>
            <a:r>
              <a:rPr lang="en-US" altLang="en-US" sz="1300" dirty="0">
                <a:solidFill>
                  <a:srgbClr val="111827"/>
                </a:solidFill>
              </a:rPr>
              <a:t> &amp; </a:t>
            </a:r>
            <a:r>
              <a:rPr lang="en-US" altLang="en-US" sz="1300" dirty="0" err="1">
                <a:solidFill>
                  <a:srgbClr val="111827"/>
                </a:solidFill>
              </a:rPr>
              <a:t>Problématique</a:t>
            </a:r>
            <a:endParaRPr lang="en-US" altLang="en-US" sz="1300" dirty="0" err="1"/>
          </a:p>
        </p:txBody>
      </p:sp>
      <p:sp>
        <p:nvSpPr>
          <p:cNvPr id="3081" name="Shape 7">
            <a:extLst>
              <a:ext uri="{FF2B5EF4-FFF2-40B4-BE49-F238E27FC236}">
                <a16:creationId xmlns:a16="http://schemas.microsoft.com/office/drawing/2014/main" id="{6E7E1FF1-59EB-58D6-3860-7F72DC77B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987425"/>
            <a:ext cx="457200" cy="384175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2" name="Text 8">
            <a:extLst>
              <a:ext uri="{FF2B5EF4-FFF2-40B4-BE49-F238E27FC236}">
                <a16:creationId xmlns:a16="http://schemas.microsoft.com/office/drawing/2014/main" id="{099FF397-F30A-6127-6AF4-B798A782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987425"/>
            <a:ext cx="4572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altLang="en-US" sz="1200"/>
          </a:p>
        </p:txBody>
      </p:sp>
      <p:sp>
        <p:nvSpPr>
          <p:cNvPr id="3083" name="Shape 9">
            <a:extLst>
              <a:ext uri="{FF2B5EF4-FFF2-40B4-BE49-F238E27FC236}">
                <a16:creationId xmlns:a16="http://schemas.microsoft.com/office/drawing/2014/main" id="{F38C45AB-EF08-0D5B-475E-F4B4336E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1006475"/>
            <a:ext cx="347662" cy="3460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4" name="Text 10">
            <a:extLst>
              <a:ext uri="{FF2B5EF4-FFF2-40B4-BE49-F238E27FC236}">
                <a16:creationId xmlns:a16="http://schemas.microsoft.com/office/drawing/2014/main" id="{1D04C68B-843B-69B3-CB6D-0D4060D46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006475"/>
            <a:ext cx="4206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500">
                <a:solidFill>
                  <a:srgbClr val="000000"/>
                </a:solidFill>
              </a:rPr>
              <a:t>📐</a:t>
            </a:r>
            <a:endParaRPr lang="en-US" altLang="en-US" sz="1500"/>
          </a:p>
        </p:txBody>
      </p:sp>
      <p:sp>
        <p:nvSpPr>
          <p:cNvPr id="3085" name="Text 11">
            <a:extLst>
              <a:ext uri="{FF2B5EF4-FFF2-40B4-BE49-F238E27FC236}">
                <a16:creationId xmlns:a16="http://schemas.microsoft.com/office/drawing/2014/main" id="{9F236B34-FB7D-43AE-E3E1-185DA5D9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042988"/>
            <a:ext cx="274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111827"/>
                </a:solidFill>
              </a:rPr>
              <a:t>Conception UML</a:t>
            </a:r>
            <a:endParaRPr lang="en-US" altLang="en-US" sz="1300"/>
          </a:p>
        </p:txBody>
      </p:sp>
      <p:sp>
        <p:nvSpPr>
          <p:cNvPr id="3086" name="Shape 12">
            <a:extLst>
              <a:ext uri="{FF2B5EF4-FFF2-40B4-BE49-F238E27FC236}">
                <a16:creationId xmlns:a16="http://schemas.microsoft.com/office/drawing/2014/main" id="{A4BAEF85-AEE6-FBFC-D184-B2D28B29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646238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06156CA-70E6-9973-30D9-BA1C5317BAC5}"/>
              </a:ext>
            </a:extLst>
          </p:cNvPr>
          <p:cNvGrpSpPr/>
          <p:nvPr/>
        </p:nvGrpSpPr>
        <p:grpSpPr>
          <a:xfrm>
            <a:off x="503238" y="2025570"/>
            <a:ext cx="8110537" cy="384175"/>
            <a:chOff x="503238" y="2286000"/>
            <a:chExt cx="8110537" cy="384175"/>
          </a:xfrm>
        </p:grpSpPr>
        <p:sp>
          <p:nvSpPr>
            <p:cNvPr id="3087" name="Shape 13">
              <a:extLst>
                <a:ext uri="{FF2B5EF4-FFF2-40B4-BE49-F238E27FC236}">
                  <a16:creationId xmlns:a16="http://schemas.microsoft.com/office/drawing/2014/main" id="{4787613B-B3FA-9D87-1F0E-238E04850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Text 14">
              <a:extLst>
                <a:ext uri="{FF2B5EF4-FFF2-40B4-BE49-F238E27FC236}">
                  <a16:creationId xmlns:a16="http://schemas.microsoft.com/office/drawing/2014/main" id="{1B124D69-52F5-0824-5B17-079B7DA89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02</a:t>
              </a:r>
              <a:endParaRPr lang="en-US" altLang="en-US" sz="1200"/>
            </a:p>
          </p:txBody>
        </p:sp>
        <p:sp>
          <p:nvSpPr>
            <p:cNvPr id="3089" name="Shape 15">
              <a:extLst>
                <a:ext uri="{FF2B5EF4-FFF2-40B4-BE49-F238E27FC236}">
                  <a16:creationId xmlns:a16="http://schemas.microsoft.com/office/drawing/2014/main" id="{061885C9-7D52-4ECE-D136-03B16D414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Text 16">
              <a:extLst>
                <a:ext uri="{FF2B5EF4-FFF2-40B4-BE49-F238E27FC236}">
                  <a16:creationId xmlns:a16="http://schemas.microsoft.com/office/drawing/2014/main" id="{8E6002D4-F358-E30B-E361-5C2BC7E81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️</a:t>
              </a:r>
              <a:endParaRPr lang="en-US" altLang="en-US" sz="1500"/>
            </a:p>
          </p:txBody>
        </p:sp>
        <p:sp>
          <p:nvSpPr>
            <p:cNvPr id="3091" name="Text 17">
              <a:extLst>
                <a:ext uri="{FF2B5EF4-FFF2-40B4-BE49-F238E27FC236}">
                  <a16:creationId xmlns:a16="http://schemas.microsoft.com/office/drawing/2014/main" id="{24308DBB-4DE9-0B13-2C8F-FEB1A6390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Objectifs</a:t>
              </a:r>
              <a:endParaRPr lang="en-US" altLang="en-US" sz="1300" dirty="0" err="1">
                <a:solidFill>
                  <a:srgbClr val="111827"/>
                </a:solidFill>
                <a:ea typeface="Calibri"/>
                <a:cs typeface="Calibri"/>
              </a:endParaRPr>
            </a:p>
          </p:txBody>
        </p:sp>
        <p:sp>
          <p:nvSpPr>
            <p:cNvPr id="3092" name="Shape 18">
              <a:extLst>
                <a:ext uri="{FF2B5EF4-FFF2-40B4-BE49-F238E27FC236}">
                  <a16:creationId xmlns:a16="http://schemas.microsoft.com/office/drawing/2014/main" id="{1D449DFD-8DF6-E457-EA0B-10799E29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3" name="Text 19">
              <a:extLst>
                <a:ext uri="{FF2B5EF4-FFF2-40B4-BE49-F238E27FC236}">
                  <a16:creationId xmlns:a16="http://schemas.microsoft.com/office/drawing/2014/main" id="{0B7F0674-3C35-BC64-E4D6-160C5661D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06</a:t>
              </a:r>
              <a:endParaRPr lang="en-US" altLang="en-US" sz="1200"/>
            </a:p>
          </p:txBody>
        </p:sp>
        <p:sp>
          <p:nvSpPr>
            <p:cNvPr id="3094" name="Shape 20">
              <a:extLst>
                <a:ext uri="{FF2B5EF4-FFF2-40B4-BE49-F238E27FC236}">
                  <a16:creationId xmlns:a16="http://schemas.microsoft.com/office/drawing/2014/main" id="{435116A3-C013-B42B-F3FE-1431D2B75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Text 21">
              <a:extLst>
                <a:ext uri="{FF2B5EF4-FFF2-40B4-BE49-F238E27FC236}">
                  <a16:creationId xmlns:a16="http://schemas.microsoft.com/office/drawing/2014/main" id="{20BF35C0-02A2-B76B-13B7-81397B1BD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💻</a:t>
              </a:r>
              <a:endParaRPr lang="en-US" altLang="en-US" sz="1500"/>
            </a:p>
          </p:txBody>
        </p:sp>
        <p:sp>
          <p:nvSpPr>
            <p:cNvPr id="3096" name="Text 22">
              <a:extLst>
                <a:ext uri="{FF2B5EF4-FFF2-40B4-BE49-F238E27FC236}">
                  <a16:creationId xmlns:a16="http://schemas.microsoft.com/office/drawing/2014/main" id="{E5728788-1420-01A6-35F6-2BEF125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</a:rPr>
                <a:t>Implémentation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Interface</a:t>
              </a:r>
              <a:endParaRPr lang="en-US" altLang="en-US" sz="1300" dirty="0"/>
            </a:p>
          </p:txBody>
        </p:sp>
      </p:grpSp>
      <p:sp>
        <p:nvSpPr>
          <p:cNvPr id="3097" name="Shape 23">
            <a:extLst>
              <a:ext uri="{FF2B5EF4-FFF2-40B4-BE49-F238E27FC236}">
                <a16:creationId xmlns:a16="http://schemas.microsoft.com/office/drawing/2014/main" id="{ED907102-A294-E865-10CC-B1506A5E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691617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59DA093-D962-21D6-4062-C72FD2749037}"/>
              </a:ext>
            </a:extLst>
          </p:cNvPr>
          <p:cNvGrpSpPr/>
          <p:nvPr/>
        </p:nvGrpSpPr>
        <p:grpSpPr>
          <a:xfrm>
            <a:off x="503238" y="3107119"/>
            <a:ext cx="8110537" cy="384175"/>
            <a:chOff x="503238" y="3584575"/>
            <a:chExt cx="8110537" cy="384175"/>
          </a:xfrm>
        </p:grpSpPr>
        <p:sp>
          <p:nvSpPr>
            <p:cNvPr id="3098" name="Shape 24">
              <a:extLst>
                <a:ext uri="{FF2B5EF4-FFF2-40B4-BE49-F238E27FC236}">
                  <a16:creationId xmlns:a16="http://schemas.microsoft.com/office/drawing/2014/main" id="{C6E57497-C66A-9B22-4717-1FD917F78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3584575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Text 25">
              <a:extLst>
                <a:ext uri="{FF2B5EF4-FFF2-40B4-BE49-F238E27FC236}">
                  <a16:creationId xmlns:a16="http://schemas.microsoft.com/office/drawing/2014/main" id="{2C24382A-2540-8919-0260-B6F51F97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3584575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03</a:t>
              </a:r>
              <a:endParaRPr lang="en-US" altLang="en-US" sz="1200"/>
            </a:p>
          </p:txBody>
        </p:sp>
        <p:sp>
          <p:nvSpPr>
            <p:cNvPr id="3100" name="Shape 26">
              <a:extLst>
                <a:ext uri="{FF2B5EF4-FFF2-40B4-BE49-F238E27FC236}">
                  <a16:creationId xmlns:a16="http://schemas.microsoft.com/office/drawing/2014/main" id="{7DFDE32D-3856-57EA-23A1-902D5B04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3602038"/>
              <a:ext cx="347662" cy="347662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1" name="Text 27">
              <a:extLst>
                <a:ext uri="{FF2B5EF4-FFF2-40B4-BE49-F238E27FC236}">
                  <a16:creationId xmlns:a16="http://schemas.microsoft.com/office/drawing/2014/main" id="{3E7932FC-6249-C701-709A-FF72DF114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3602038"/>
              <a:ext cx="420688" cy="34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🛡</a:t>
              </a:r>
              <a:r>
                <a:rPr lang="en-US" altLang="en-US" sz="1500">
                  <a:ea typeface="Calibri"/>
                  <a:cs typeface="Calibri"/>
                </a:rPr>
                <a:t>️</a:t>
              </a:r>
            </a:p>
          </p:txBody>
        </p:sp>
        <p:sp>
          <p:nvSpPr>
            <p:cNvPr id="3102" name="Text 28">
              <a:extLst>
                <a:ext uri="{FF2B5EF4-FFF2-40B4-BE49-F238E27FC236}">
                  <a16:creationId xmlns:a16="http://schemas.microsoft.com/office/drawing/2014/main" id="{D7560FA9-FADC-A458-9403-EE32C4C3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3638550"/>
              <a:ext cx="2743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sz="1300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Vue </a:t>
              </a:r>
              <a:r>
                <a:rPr 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d'ensemble</a:t>
              </a:r>
              <a:r>
                <a:rPr lang="en-US" sz="1300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 de </a:t>
              </a:r>
              <a:r>
                <a:rPr lang="en-US" sz="1300" dirty="0" err="1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CyberGuard</a:t>
              </a:r>
              <a:endParaRPr lang="en-US" altLang="en-US" sz="1300" dirty="0" err="1"/>
            </a:p>
          </p:txBody>
        </p:sp>
        <p:sp>
          <p:nvSpPr>
            <p:cNvPr id="3103" name="Shape 29">
              <a:extLst>
                <a:ext uri="{FF2B5EF4-FFF2-40B4-BE49-F238E27FC236}">
                  <a16:creationId xmlns:a16="http://schemas.microsoft.com/office/drawing/2014/main" id="{C8E02852-6E04-C1B9-B154-19B3D5E6E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3584575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4" name="Text 30">
              <a:extLst>
                <a:ext uri="{FF2B5EF4-FFF2-40B4-BE49-F238E27FC236}">
                  <a16:creationId xmlns:a16="http://schemas.microsoft.com/office/drawing/2014/main" id="{68E2BB1D-4CC4-83C6-EA76-392FB3A5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3584575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07</a:t>
              </a:r>
              <a:endParaRPr lang="en-US" altLang="en-US" sz="1200"/>
            </a:p>
          </p:txBody>
        </p:sp>
        <p:sp>
          <p:nvSpPr>
            <p:cNvPr id="3105" name="Shape 31">
              <a:extLst>
                <a:ext uri="{FF2B5EF4-FFF2-40B4-BE49-F238E27FC236}">
                  <a16:creationId xmlns:a16="http://schemas.microsoft.com/office/drawing/2014/main" id="{B869229A-48AC-ABD8-0F58-7AC04F70D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3602038"/>
              <a:ext cx="347662" cy="347662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6" name="Text 32">
              <a:extLst>
                <a:ext uri="{FF2B5EF4-FFF2-40B4-BE49-F238E27FC236}">
                  <a16:creationId xmlns:a16="http://schemas.microsoft.com/office/drawing/2014/main" id="{570A75DB-146C-B23E-9D9A-CACAA5D72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3602038"/>
              <a:ext cx="420688" cy="34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✅</a:t>
              </a:r>
              <a:endParaRPr lang="en-US" altLang="en-US" sz="1500"/>
            </a:p>
          </p:txBody>
        </p:sp>
        <p:sp>
          <p:nvSpPr>
            <p:cNvPr id="3107" name="Text 33">
              <a:extLst>
                <a:ext uri="{FF2B5EF4-FFF2-40B4-BE49-F238E27FC236}">
                  <a16:creationId xmlns:a16="http://schemas.microsoft.com/office/drawing/2014/main" id="{A70F4C0C-70B3-17ED-B960-63A53D128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3638550"/>
              <a:ext cx="2743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111827"/>
                  </a:solidFill>
                </a:rPr>
                <a:t>Tests, </a:t>
              </a:r>
              <a:r>
                <a:rPr lang="en-US" altLang="en-US" sz="1300" dirty="0" err="1">
                  <a:solidFill>
                    <a:srgbClr val="111827"/>
                  </a:solidFill>
                </a:rPr>
                <a:t>Résultats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Conclusion</a:t>
              </a:r>
              <a:endParaRPr lang="en-US" altLang="en-US" sz="1300" dirty="0"/>
            </a:p>
          </p:txBody>
        </p:sp>
      </p:grpSp>
      <p:sp>
        <p:nvSpPr>
          <p:cNvPr id="3108" name="Shape 34">
            <a:extLst>
              <a:ext uri="{FF2B5EF4-FFF2-40B4-BE49-F238E27FC236}">
                <a16:creationId xmlns:a16="http://schemas.microsoft.com/office/drawing/2014/main" id="{87D66539-E08E-138C-2293-780626C3A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3565525"/>
            <a:ext cx="1371600" cy="1371600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23">
            <a:extLst>
              <a:ext uri="{FF2B5EF4-FFF2-40B4-BE49-F238E27FC236}">
                <a16:creationId xmlns:a16="http://schemas.microsoft.com/office/drawing/2014/main" id="{2240C5A8-787E-9C6A-4B7A-D6F1971E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72" y="3834617"/>
            <a:ext cx="8229600" cy="1746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2319978-6758-99AF-17B2-51A209755BB0}"/>
              </a:ext>
            </a:extLst>
          </p:cNvPr>
          <p:cNvGrpSpPr/>
          <p:nvPr/>
        </p:nvGrpSpPr>
        <p:grpSpPr>
          <a:xfrm>
            <a:off x="517706" y="4166886"/>
            <a:ext cx="8110537" cy="384175"/>
            <a:chOff x="503238" y="2286000"/>
            <a:chExt cx="8110537" cy="384175"/>
          </a:xfrm>
        </p:grpSpPr>
        <p:sp>
          <p:nvSpPr>
            <p:cNvPr id="5" name="Shape 13">
              <a:extLst>
                <a:ext uri="{FF2B5EF4-FFF2-40B4-BE49-F238E27FC236}">
                  <a16:creationId xmlns:a16="http://schemas.microsoft.com/office/drawing/2014/main" id="{0DF0DAF7-DF63-7B59-9CEE-6DCC9F179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14">
              <a:extLst>
                <a:ext uri="{FF2B5EF4-FFF2-40B4-BE49-F238E27FC236}">
                  <a16:creationId xmlns:a16="http://schemas.microsoft.com/office/drawing/2014/main" id="{4C06CAED-D946-C9EF-2821-1C96D8178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04</a:t>
              </a:r>
              <a:endParaRPr lang="en-US" altLang="en-US" sz="1200"/>
            </a:p>
          </p:txBody>
        </p:sp>
        <p:sp>
          <p:nvSpPr>
            <p:cNvPr id="7" name="Shape 15">
              <a:extLst>
                <a:ext uri="{FF2B5EF4-FFF2-40B4-BE49-F238E27FC236}">
                  <a16:creationId xmlns:a16="http://schemas.microsoft.com/office/drawing/2014/main" id="{37EC909E-6EA1-1798-2D38-4E6A9975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16">
              <a:extLst>
                <a:ext uri="{FF2B5EF4-FFF2-40B4-BE49-F238E27FC236}">
                  <a16:creationId xmlns:a16="http://schemas.microsoft.com/office/drawing/2014/main" id="{5361F3E7-B1AD-B5C1-5EE6-59347496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75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⚙</a:t>
              </a:r>
              <a:r>
                <a:rPr lang="en-US" alt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️</a:t>
              </a:r>
              <a:endParaRPr lang="en-US" altLang="en-US" sz="1500">
                <a:ea typeface="Calibri"/>
                <a:cs typeface="Calibri"/>
              </a:endParaRPr>
            </a:p>
          </p:txBody>
        </p:sp>
        <p:sp>
          <p:nvSpPr>
            <p:cNvPr id="9" name="Text 17">
              <a:extLst>
                <a:ext uri="{FF2B5EF4-FFF2-40B4-BE49-F238E27FC236}">
                  <a16:creationId xmlns:a16="http://schemas.microsoft.com/office/drawing/2014/main" id="{95C53EC3-A4E4-0E3F-A26F-0513546C2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sz="130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Architecture &amp;Technologies</a:t>
              </a:r>
              <a:endParaRPr lang="en-US" sz="1500">
                <a:ea typeface="Calibri"/>
                <a:cs typeface="Calibri"/>
              </a:endParaRPr>
            </a:p>
          </p:txBody>
        </p:sp>
        <p:sp>
          <p:nvSpPr>
            <p:cNvPr id="10" name="Shape 18">
              <a:extLst>
                <a:ext uri="{FF2B5EF4-FFF2-40B4-BE49-F238E27FC236}">
                  <a16:creationId xmlns:a16="http://schemas.microsoft.com/office/drawing/2014/main" id="{D6FB0E4F-0C1D-0200-11CF-FE3D9DE6A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19">
              <a:extLst>
                <a:ext uri="{FF2B5EF4-FFF2-40B4-BE49-F238E27FC236}">
                  <a16:creationId xmlns:a16="http://schemas.microsoft.com/office/drawing/2014/main" id="{8955E5F1-E85D-37A4-FFB3-26C01C032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286000"/>
              <a:ext cx="457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b="1">
                  <a:solidFill>
                    <a:srgbClr val="FFFFFF"/>
                  </a:solidFill>
                </a:rPr>
                <a:t>05</a:t>
              </a:r>
              <a:endParaRPr lang="en-US" altLang="en-US" sz="1200"/>
            </a:p>
          </p:txBody>
        </p:sp>
        <p:sp>
          <p:nvSpPr>
            <p:cNvPr id="12" name="Shape 20">
              <a:extLst>
                <a:ext uri="{FF2B5EF4-FFF2-40B4-BE49-F238E27FC236}">
                  <a16:creationId xmlns:a16="http://schemas.microsoft.com/office/drawing/2014/main" id="{11DB1DCE-7980-4E7E-75C1-E8C49C8D5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2305050"/>
              <a:ext cx="347662" cy="346075"/>
            </a:xfrm>
            <a:prstGeom prst="ellipse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570B0993-7A6A-6848-CFAD-0F0103A06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350" y="2305050"/>
              <a:ext cx="4206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500">
                  <a:solidFill>
                    <a:srgbClr val="000000"/>
                  </a:solidFill>
                </a:rPr>
                <a:t>💻</a:t>
              </a:r>
              <a:endParaRPr lang="en-US" altLang="en-US" sz="1500"/>
            </a:p>
          </p:txBody>
        </p:sp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26CD0B3B-0C83-A856-37D7-643EB036D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0575" y="2341563"/>
              <a:ext cx="2743200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300" dirty="0" err="1">
                  <a:solidFill>
                    <a:srgbClr val="111827"/>
                  </a:solidFill>
                </a:rPr>
                <a:t>Implémentation</a:t>
              </a:r>
              <a:r>
                <a:rPr lang="en-US" altLang="en-US" sz="1300" dirty="0">
                  <a:solidFill>
                    <a:srgbClr val="111827"/>
                  </a:solidFill>
                </a:rPr>
                <a:t> &amp; Interface</a:t>
              </a:r>
              <a:endParaRPr lang="en-US" altLang="en-US" sz="1300" dirty="0"/>
            </a:p>
          </p:txBody>
        </p:sp>
      </p:grpSp>
      <p:pic>
        <p:nvPicPr>
          <p:cNvPr id="17" name="Image 16" descr="preencoded.png">
            <a:extLst>
              <a:ext uri="{FF2B5EF4-FFF2-40B4-BE49-F238E27FC236}">
                <a16:creationId xmlns:a16="http://schemas.microsoft.com/office/drawing/2014/main" id="{39D00865-88F6-02E4-F870-5ED04ED4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1058159" y="2075964"/>
            <a:ext cx="310342" cy="27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2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65958-6E7C-7203-A3D4-BE3B75F6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57B97145-CD45-59F2-FADD-03405F281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D3C9DDBF-E106-713C-3C0B-55FD9692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E93E4824-0E45-25E5-6916-3D61D25F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6BE6E2-7C6B-17B4-5A40-DFADD5DC82BB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01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CECD27-AEB3-F167-75D9-C2132C965D50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D08B737A-B9C0-1E50-91AA-A12D66AF0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6432C3E9-8A7F-3B40-F9B6-E4730F0DD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🌐</a:t>
            </a:r>
            <a:r>
              <a:rPr lang="en-US" alt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️</a:t>
            </a:r>
            <a:endParaRPr lang="en-US" altLang="en-US" sz="2800">
              <a:ea typeface="Calibri"/>
              <a:cs typeface="Calibri"/>
            </a:endParaRPr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D4D20461-EB1F-C11F-1F48-54D19E6D2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Contexte</a:t>
            </a:r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Problématique</a:t>
            </a:r>
            <a:endParaRPr lang="fr-FR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9408D47F-47B5-50AB-84F6-F0F87E28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859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8" name="Text 26">
            <a:extLst>
              <a:ext uri="{FF2B5EF4-FFF2-40B4-BE49-F238E27FC236}">
                <a16:creationId xmlns:a16="http://schemas.microsoft.com/office/drawing/2014/main" id="{72D077C9-65BF-8781-0ABA-6790DCE8F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552950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Email + Mot de asse</a:t>
            </a:r>
            <a:endParaRPr lang="en-US" altLang="en-US" sz="900"/>
          </a:p>
        </p:txBody>
      </p:sp>
      <p:sp>
        <p:nvSpPr>
          <p:cNvPr id="7200" name="Text 28">
            <a:extLst>
              <a:ext uri="{FF2B5EF4-FFF2-40B4-BE49-F238E27FC236}">
                <a16:creationId xmlns:a16="http://schemas.microsoft.com/office/drawing/2014/main" id="{A94200BF-FEF3-0852-6BE9-60529D109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552950"/>
            <a:ext cx="310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② Code OTP à usage unique (8 chiffres, 10 min)</a:t>
            </a:r>
            <a:endParaRPr lang="en-US" altLang="en-US" sz="90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28AF359-5FFD-B29A-53EA-858376F9304B}"/>
              </a:ext>
            </a:extLst>
          </p:cNvPr>
          <p:cNvGrpSpPr/>
          <p:nvPr/>
        </p:nvGrpSpPr>
        <p:grpSpPr>
          <a:xfrm>
            <a:off x="2835274" y="3002666"/>
            <a:ext cx="6034088" cy="1407362"/>
            <a:chOff x="2835274" y="2064543"/>
            <a:chExt cx="6034088" cy="1407362"/>
          </a:xfrm>
        </p:grpSpPr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5C8809BA-9CA0-158C-AFAD-911A0473E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4" y="2064543"/>
              <a:ext cx="6034088" cy="140736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21C6947-C521-B44D-674C-AFBD0FA1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279" y="2743872"/>
              <a:ext cx="5767506" cy="564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Comment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concevoir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implémenter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une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plateforme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pédagogique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cybersécurité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capable de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simuler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,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détecter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visualiser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cyberattaques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dans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une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application web ?</a:t>
              </a:r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54B6F7A5-DC39-9A8F-7557-ED3176803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2255" y="2223009"/>
              <a:ext cx="4826392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PROBLÉMATIQUE</a:t>
              </a:r>
              <a:endParaRPr lang="en-US" altLang="en-US" sz="1600" b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89EC024D-94EC-3F5D-E1AF-1064FF4E8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115" y="2147215"/>
              <a:ext cx="550083" cy="528517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" name="Image 1" descr="preencoded.png">
              <a:extLst>
                <a:ext uri="{FF2B5EF4-FFF2-40B4-BE49-F238E27FC236}">
                  <a16:creationId xmlns:a16="http://schemas.microsoft.com/office/drawing/2014/main" id="{FA0F1AE8-5DF8-2A75-27D4-9831386E4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030"/>
            <a:stretch>
              <a:fillRect/>
            </a:stretch>
          </p:blipFill>
          <p:spPr>
            <a:xfrm>
              <a:off x="2992017" y="2176643"/>
              <a:ext cx="330876" cy="358895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94C5F30-285D-825A-1000-A1BD55D1088D}"/>
              </a:ext>
            </a:extLst>
          </p:cNvPr>
          <p:cNvGrpSpPr/>
          <p:nvPr/>
        </p:nvGrpSpPr>
        <p:grpSpPr>
          <a:xfrm>
            <a:off x="2835275" y="680725"/>
            <a:ext cx="6077220" cy="1701280"/>
            <a:chOff x="2835275" y="195489"/>
            <a:chExt cx="6077220" cy="1701280"/>
          </a:xfrm>
        </p:grpSpPr>
        <p:sp>
          <p:nvSpPr>
            <p:cNvPr id="4" name="Shape 9">
              <a:extLst>
                <a:ext uri="{FF2B5EF4-FFF2-40B4-BE49-F238E27FC236}">
                  <a16:creationId xmlns:a16="http://schemas.microsoft.com/office/drawing/2014/main" id="{904F2E43-4CE4-8CD7-EF37-4BE2CA8D5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195489"/>
              <a:ext cx="6034088" cy="1701280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12">
              <a:extLst>
                <a:ext uri="{FF2B5EF4-FFF2-40B4-BE49-F238E27FC236}">
                  <a16:creationId xmlns:a16="http://schemas.microsoft.com/office/drawing/2014/main" id="{C7A0A2ED-483A-800A-7D7C-EC5838CF0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969" y="740031"/>
              <a:ext cx="5778290" cy="1006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71450" indent="-171450" eaLnBrk="1" hangingPunct="1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Croissance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des applications web</a:t>
              </a:r>
              <a:endParaRPr lang="en-US" altLang="en-US" sz="1200" b="1" dirty="0">
                <a:solidFill>
                  <a:srgbClr val="2929CC"/>
                </a:solidFill>
                <a:ea typeface="Calibri"/>
                <a:cs typeface="Calibri"/>
              </a:endParaRP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Multiplication des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cyberattaques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(Brute Force, SQL Injection, XSS)</a:t>
              </a: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Difficulté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d'apprentissage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 pratique de la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cybersécurité</a:t>
              </a:r>
            </a:p>
            <a:p>
              <a:pPr marL="171450" indent="-171450">
                <a:lnSpc>
                  <a:spcPct val="150000"/>
                </a:lnSpc>
                <a:buFont typeface="Arial"/>
                <a:buChar char="•"/>
              </a:pP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Besoin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d'un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environnement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pédagogique</a:t>
              </a:r>
              <a:r>
                <a:rPr lang="en-US" altLang="en-US" sz="1200" b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de simulation et </a:t>
              </a:r>
              <a:r>
                <a:rPr lang="en-US" altLang="en-US" sz="12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détection</a:t>
              </a:r>
              <a:endParaRPr lang="en-US" altLang="en-US" sz="1200" b="1" dirty="0" err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  <p:sp>
          <p:nvSpPr>
            <p:cNvPr id="7179" name="Text 9">
              <a:extLst>
                <a:ext uri="{FF2B5EF4-FFF2-40B4-BE49-F238E27FC236}">
                  <a16:creationId xmlns:a16="http://schemas.microsoft.com/office/drawing/2014/main" id="{5A4328DB-0D13-9D0E-F11E-DD509EF46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407" y="260500"/>
              <a:ext cx="60340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600" b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Contexte</a:t>
              </a:r>
              <a:endParaRPr lang="en-US" altLang="en-US" sz="1600" b="1" dirty="0" err="1">
                <a:solidFill>
                  <a:srgbClr val="2929CC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08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DCF922E1-37DE-2AA3-F7D4-BD55D8C1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1617C815-46AA-6821-5C27-BAD5D2857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288EC1DB-438E-FC69-FCE0-437FB451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A19D2-78A5-6205-1512-0487316C697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02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7A82F-0165-FC37-8B52-01E15C36105B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A8DB8E08-17CD-45D4-81F7-8EBEB566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488387B5-8FA2-D1C8-0D6F-6F91C2B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️</a:t>
            </a:r>
            <a:endParaRPr lang="en-US" altLang="en-US" sz="2800"/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E5E588C3-2908-CF6C-3CB0-DE5F1305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Objectifs</a:t>
            </a:r>
            <a:endParaRPr lang="fr-FR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4DC2E2FB-0EA0-E95C-DDB5-62892BC8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859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>
            <a:extLst>
              <a:ext uri="{FF2B5EF4-FFF2-40B4-BE49-F238E27FC236}">
                <a16:creationId xmlns:a16="http://schemas.microsoft.com/office/drawing/2014/main" id="{5A286988-7E3F-8AC4-3CE3-66220FB5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Objectifs</a:t>
            </a:r>
            <a:r>
              <a:rPr lang="en-US" altLang="en-US" sz="16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projet</a:t>
            </a:r>
            <a:endParaRPr lang="en-US" altLang="en-US" sz="1600" b="1" dirty="0" err="1">
              <a:solidFill>
                <a:srgbClr val="2929CC"/>
              </a:solidFill>
              <a:ea typeface="Calibri"/>
              <a:cs typeface="Calibri"/>
            </a:endParaRPr>
          </a:p>
        </p:txBody>
      </p:sp>
      <p:sp>
        <p:nvSpPr>
          <p:cNvPr id="7198" name="Text 26">
            <a:extLst>
              <a:ext uri="{FF2B5EF4-FFF2-40B4-BE49-F238E27FC236}">
                <a16:creationId xmlns:a16="http://schemas.microsoft.com/office/drawing/2014/main" id="{D6E32A1C-B6E2-CEBC-40D7-6C26F3002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552950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① Email + Mot de asse</a:t>
            </a:r>
            <a:endParaRPr lang="en-US" altLang="en-US" sz="900"/>
          </a:p>
        </p:txBody>
      </p:sp>
      <p:sp>
        <p:nvSpPr>
          <p:cNvPr id="7200" name="Text 28">
            <a:extLst>
              <a:ext uri="{FF2B5EF4-FFF2-40B4-BE49-F238E27FC236}">
                <a16:creationId xmlns:a16="http://schemas.microsoft.com/office/drawing/2014/main" id="{346CF02E-DD5A-D898-D90C-02661FC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552950"/>
            <a:ext cx="310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② Code OTP à usage unique (8 chiffres, 10 min)</a:t>
            </a:r>
            <a:endParaRPr lang="en-US" altLang="en-US" sz="90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F0B11E31-7C5A-BF1B-3D6D-0F308C352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648375"/>
            <a:ext cx="6034088" cy="1086649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DB9E3D46-F1AE-AF47-400A-E75C8F51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464" y="928734"/>
            <a:ext cx="550083" cy="52851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05EEAB7D-8232-3232-0E62-2811FA0C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4601" y="740031"/>
            <a:ext cx="5163658" cy="876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Concevoir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er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développer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plateforme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pédagogique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cybersécurité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permettant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simuler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superviser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certaines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cyberattaques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dans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application web.</a:t>
            </a:r>
            <a:endParaRPr lang="en-US" altLang="en-US" sz="1200" b="1" dirty="0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B7C12C26-E98D-8CC7-691B-6B415E2A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2960748" y="976369"/>
            <a:ext cx="455025" cy="405552"/>
          </a:xfrm>
          <a:prstGeom prst="rect">
            <a:avLst/>
          </a:pr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1DED51E9-B94F-A1CC-29A8-A81A10D75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6" y="2118458"/>
            <a:ext cx="5990956" cy="2194523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C6BF9D4-4979-A2D2-5C18-3DF9A5AF2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279" y="2474297"/>
            <a:ext cx="5767506" cy="166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Mettre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place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renforcé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</a:t>
            </a:r>
            <a:endParaRPr lang="fr-FR"/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Enregistrer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exploiter les actions sensibles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plusieurs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scénarios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d'attaque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web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cibles</a:t>
            </a:r>
            <a:endParaRPr lang="en-US" altLang="en-US" sz="1200" b="1">
              <a:solidFill>
                <a:srgbClr val="2929CC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Centraliser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alertes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incidents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Support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démonstration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via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appli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cation métier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663E8F4-2D7B-0951-3B9C-1F16BB4C7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7" y="2115179"/>
            <a:ext cx="5473372" cy="351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Objectifs</a:t>
            </a:r>
            <a:r>
              <a:rPr lang="en-US" altLang="en-US" sz="14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4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spécifiques</a:t>
            </a:r>
            <a:endParaRPr lang="en-US" altLang="en-US" sz="1400" b="1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EE8108D3-7B4A-FF37-B459-070171FA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54" b="1786"/>
          <a:stretch>
            <a:fillRect/>
          </a:stretch>
        </p:blipFill>
        <p:spPr>
          <a:xfrm>
            <a:off x="1030588" y="2270331"/>
            <a:ext cx="681468" cy="545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>
            <a:extLst>
              <a:ext uri="{FF2B5EF4-FFF2-40B4-BE49-F238E27FC236}">
                <a16:creationId xmlns:a16="http://schemas.microsoft.com/office/drawing/2014/main" id="{DCF922E1-37DE-2AA3-F7D4-BD55D8C1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1" name="Shape 1">
            <a:extLst>
              <a:ext uri="{FF2B5EF4-FFF2-40B4-BE49-F238E27FC236}">
                <a16:creationId xmlns:a16="http://schemas.microsoft.com/office/drawing/2014/main" id="{1617C815-46AA-6821-5C27-BAD5D2857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2" name="Shape 2">
            <a:extLst>
              <a:ext uri="{FF2B5EF4-FFF2-40B4-BE49-F238E27FC236}">
                <a16:creationId xmlns:a16="http://schemas.microsoft.com/office/drawing/2014/main" id="{288EC1DB-438E-FC69-FCE0-437FB4517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A19D2-78A5-6205-1512-0487316C697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03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7A82F-0165-FC37-8B52-01E15C36105B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7175" name="Shape 5">
            <a:extLst>
              <a:ext uri="{FF2B5EF4-FFF2-40B4-BE49-F238E27FC236}">
                <a16:creationId xmlns:a16="http://schemas.microsoft.com/office/drawing/2014/main" id="{A8DB8E08-17CD-45D4-81F7-8EBEB566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Text 6">
            <a:extLst>
              <a:ext uri="{FF2B5EF4-FFF2-40B4-BE49-F238E27FC236}">
                <a16:creationId xmlns:a16="http://schemas.microsoft.com/office/drawing/2014/main" id="{488387B5-8FA2-D1C8-0D6F-6F91C2B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🛡️</a:t>
            </a:r>
            <a:endParaRPr lang="en-US" altLang="en-US" sz="2800"/>
          </a:p>
        </p:txBody>
      </p:sp>
      <p:sp>
        <p:nvSpPr>
          <p:cNvPr id="7177" name="Text 7">
            <a:extLst>
              <a:ext uri="{FF2B5EF4-FFF2-40B4-BE49-F238E27FC236}">
                <a16:creationId xmlns:a16="http://schemas.microsoft.com/office/drawing/2014/main" id="{E5E588C3-2908-CF6C-3CB0-DE5F1305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Vue </a:t>
            </a:r>
            <a:r>
              <a:rPr lang="en-US" alt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d'ensemble</a:t>
            </a:r>
            <a:r>
              <a:rPr lang="en-US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 </a:t>
            </a:r>
            <a:r>
              <a:rPr lang="en-US" alt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CyberGuard</a:t>
            </a:r>
            <a:endParaRPr lang="fr-FR" dirty="0" err="1"/>
          </a:p>
        </p:txBody>
      </p:sp>
      <p:sp>
        <p:nvSpPr>
          <p:cNvPr id="7178" name="Shape 8">
            <a:extLst>
              <a:ext uri="{FF2B5EF4-FFF2-40B4-BE49-F238E27FC236}">
                <a16:creationId xmlns:a16="http://schemas.microsoft.com/office/drawing/2014/main" id="{4DC2E2FB-0EA0-E95C-DDB5-62892BC89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Text 9">
            <a:extLst>
              <a:ext uri="{FF2B5EF4-FFF2-40B4-BE49-F238E27FC236}">
                <a16:creationId xmlns:a16="http://schemas.microsoft.com/office/drawing/2014/main" id="{5A286988-7E3F-8AC4-3CE3-66220FB5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2929CC"/>
                </a:solidFill>
              </a:rPr>
              <a:t>Qu'est-ce que CyberGuard ?</a:t>
            </a:r>
            <a:endParaRPr lang="en-US" altLang="en-US" sz="1600"/>
          </a:p>
        </p:txBody>
      </p:sp>
      <p:sp>
        <p:nvSpPr>
          <p:cNvPr id="7185" name="Shape 15">
            <a:extLst>
              <a:ext uri="{FF2B5EF4-FFF2-40B4-BE49-F238E27FC236}">
                <a16:creationId xmlns:a16="http://schemas.microsoft.com/office/drawing/2014/main" id="{17A32FFD-1A14-97E6-942D-BF0924B64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253" y="465462"/>
            <a:ext cx="6126583" cy="4542799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8" name="Text 18">
            <a:extLst>
              <a:ext uri="{FF2B5EF4-FFF2-40B4-BE49-F238E27FC236}">
                <a16:creationId xmlns:a16="http://schemas.microsoft.com/office/drawing/2014/main" id="{0FAF7766-7B41-E921-CC83-FA648938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5169" y="584360"/>
            <a:ext cx="5749040" cy="70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CyberGuard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est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plateforme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pédagogique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permettant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simuler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détecter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superviser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cyberattaques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dans un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environnement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contrôlé</a:t>
            </a:r>
            <a:r>
              <a:rPr lang="en-US" altLang="en-US" sz="12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200" b="1" dirty="0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9" name="Image 8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E1A4E90-DAC6-2E22-47EB-1F7AA35C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964" y="2151684"/>
            <a:ext cx="145652" cy="312037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F264D041-689D-EB58-D4DC-247759B94CA8}"/>
              </a:ext>
            </a:extLst>
          </p:cNvPr>
          <p:cNvGrpSpPr/>
          <p:nvPr/>
        </p:nvGrpSpPr>
        <p:grpSpPr>
          <a:xfrm>
            <a:off x="2838270" y="1608118"/>
            <a:ext cx="1800526" cy="2965752"/>
            <a:chOff x="2838270" y="1608118"/>
            <a:chExt cx="1800526" cy="2965752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4E651381-4DC5-265F-33F8-C847F56E4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270" y="1608118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7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8C6EBEEA-9357-E306-BEC4-1B3D0A19B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7640" y="1732104"/>
              <a:ext cx="883537" cy="832896"/>
            </a:xfrm>
            <a:prstGeom prst="rect">
              <a:avLst/>
            </a:prstGeom>
          </p:spPr>
        </p:pic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5A3B2311-1FA8-7B5A-1F48-8A8247CAFBD8}"/>
                </a:ext>
              </a:extLst>
            </p:cNvPr>
            <p:cNvGrpSpPr/>
            <p:nvPr/>
          </p:nvGrpSpPr>
          <p:grpSpPr>
            <a:xfrm>
              <a:off x="2939548" y="3130954"/>
              <a:ext cx="1600200" cy="1318550"/>
              <a:chOff x="2939548" y="3130954"/>
              <a:chExt cx="1600200" cy="1318550"/>
            </a:xfrm>
          </p:grpSpPr>
          <p:sp>
            <p:nvSpPr>
              <p:cNvPr id="3" name="S1Box">
                <a:extLst>
                  <a:ext uri="{FF2B5EF4-FFF2-40B4-BE49-F238E27FC236}">
                    <a16:creationId xmlns:a16="http://schemas.microsoft.com/office/drawing/2014/main" id="{753FB4DB-EB1F-1B37-55E1-3526EC57E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548" y="3130954"/>
                <a:ext cx="1600200" cy="1318550"/>
              </a:xfrm>
              <a:prstGeom prst="roundRect">
                <a:avLst>
                  <a:gd name="adj" fmla="val 20000"/>
                </a:avLst>
              </a:prstGeom>
              <a:solidFill>
                <a:srgbClr val="3B3BD2"/>
              </a:solidFill>
              <a:ln w="19050">
                <a:solidFill>
                  <a:srgbClr val="3B82F6"/>
                </a:solidFill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7" name="S1Txt">
                <a:extLst>
                  <a:ext uri="{FF2B5EF4-FFF2-40B4-BE49-F238E27FC236}">
                    <a16:creationId xmlns:a16="http://schemas.microsoft.com/office/drawing/2014/main" id="{79523530-047A-B73D-4BE5-136EBB7773CA}"/>
                  </a:ext>
                </a:extLst>
              </p:cNvPr>
              <p:cNvSpPr/>
              <p:nvPr/>
            </p:nvSpPr>
            <p:spPr>
              <a:xfrm>
                <a:off x="3034296" y="3810962"/>
                <a:ext cx="1389927" cy="549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12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Modification de </a:t>
                </a:r>
                <a:r>
                  <a:rPr lang="fr-FR" sz="12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donnée et actions suspectes</a:t>
                </a:r>
                <a:endParaRPr lang="fr-FR" sz="1200" b="1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/>
                <a:endParaRPr lang="fr-FR" sz="900" dirty="0">
                  <a:solidFill>
                    <a:srgbClr val="CBD5E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" name="Image 9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A85A58B2-3450-DF12-B471-0CCBDA0F79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3814" y="3351596"/>
                <a:ext cx="471188" cy="463954"/>
              </a:xfrm>
              <a:prstGeom prst="rect">
                <a:avLst/>
              </a:prstGeom>
            </p:spPr>
          </p:pic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3F968B44-7107-425A-DA80-B56F1A50D811}"/>
                  </a:ext>
                </a:extLst>
              </p:cNvPr>
              <p:cNvSpPr/>
              <p:nvPr/>
            </p:nvSpPr>
            <p:spPr>
              <a:xfrm>
                <a:off x="3044444" y="3181593"/>
                <a:ext cx="1386830" cy="130620"/>
              </a:xfrm>
              <a:prstGeom prst="rect">
                <a:avLst/>
              </a:prstGeom>
              <a:noFill/>
              <a:ln/>
            </p:spPr>
            <p:txBody>
              <a:bodyPr lIns="91440" tIns="45720" rIns="91440" bIns="4572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Application métier</a:t>
                </a:r>
              </a:p>
            </p:txBody>
          </p:sp>
        </p:grpSp>
        <p:pic>
          <p:nvPicPr>
            <p:cNvPr id="14" name="Image 13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B1F9E0F-6BE6-3C60-1907-01370C9E6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65305" y="2643610"/>
              <a:ext cx="348206" cy="340971"/>
            </a:xfrm>
            <a:prstGeom prst="rect">
              <a:avLst/>
            </a:prstGeom>
          </p:spPr>
        </p:pic>
      </p:grpSp>
      <p:sp>
        <p:nvSpPr>
          <p:cNvPr id="34" name="S1Txt">
            <a:extLst>
              <a:ext uri="{FF2B5EF4-FFF2-40B4-BE49-F238E27FC236}">
                <a16:creationId xmlns:a16="http://schemas.microsoft.com/office/drawing/2014/main" id="{DCF8AE00-A4AA-3273-ADA9-4F1F1F5208E6}"/>
              </a:ext>
            </a:extLst>
          </p:cNvPr>
          <p:cNvSpPr/>
          <p:nvPr/>
        </p:nvSpPr>
        <p:spPr>
          <a:xfrm>
            <a:off x="7259055" y="3297335"/>
            <a:ext cx="1389927" cy="5493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Supervision des incidents en temps réel</a:t>
            </a:r>
            <a:endParaRPr lang="fr-FR" sz="12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 sz="900" dirty="0">
              <a:solidFill>
                <a:srgbClr val="CBD5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2742A3D0-CFF8-70BF-999A-CA0306179B45}"/>
              </a:ext>
            </a:extLst>
          </p:cNvPr>
          <p:cNvSpPr/>
          <p:nvPr/>
        </p:nvSpPr>
        <p:spPr>
          <a:xfrm>
            <a:off x="7269203" y="2667966"/>
            <a:ext cx="1386830" cy="13062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Dashboard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 SOC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094A311-9E1A-FC7B-7AD7-54FBE21F7920}"/>
              </a:ext>
            </a:extLst>
          </p:cNvPr>
          <p:cNvGrpSpPr/>
          <p:nvPr/>
        </p:nvGrpSpPr>
        <p:grpSpPr>
          <a:xfrm>
            <a:off x="4933468" y="1608116"/>
            <a:ext cx="1800526" cy="2965752"/>
            <a:chOff x="4933468" y="1608116"/>
            <a:chExt cx="1800526" cy="2965752"/>
          </a:xfrm>
        </p:grpSpPr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2AF5401F-72F1-8CC9-F331-7E3773D0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3468" y="1608116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2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CCD4214A-A40A-0620-5DCD-74B7E99DC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19811" y="2665311"/>
              <a:ext cx="348206" cy="340971"/>
            </a:xfrm>
            <a:prstGeom prst="rect">
              <a:avLst/>
            </a:prstGeom>
          </p:spPr>
        </p:pic>
        <p:pic>
          <p:nvPicPr>
            <p:cNvPr id="37" name="Image 36" descr="Une image contenant vitesse, objets en métal, cercle, roue&#10;&#10;Le contenu généré par l’IA peut être incorrect.">
              <a:extLst>
                <a:ext uri="{FF2B5EF4-FFF2-40B4-BE49-F238E27FC236}">
                  <a16:creationId xmlns:a16="http://schemas.microsoft.com/office/drawing/2014/main" id="{9380327D-19C1-70AF-2D2D-E3C0539FC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1109" y="1732102"/>
              <a:ext cx="926939" cy="854599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C1A7E75F-02C2-27D2-826E-2EB96C99A341}"/>
                </a:ext>
              </a:extLst>
            </p:cNvPr>
            <p:cNvGrpSpPr/>
            <p:nvPr/>
          </p:nvGrpSpPr>
          <p:grpSpPr>
            <a:xfrm>
              <a:off x="4969639" y="3152655"/>
              <a:ext cx="1763007" cy="1318550"/>
              <a:chOff x="4969639" y="3152655"/>
              <a:chExt cx="1763007" cy="1318550"/>
            </a:xfrm>
          </p:grpSpPr>
          <p:sp>
            <p:nvSpPr>
              <p:cNvPr id="23" name="S1Box">
                <a:extLst>
                  <a:ext uri="{FF2B5EF4-FFF2-40B4-BE49-F238E27FC236}">
                    <a16:creationId xmlns:a16="http://schemas.microsoft.com/office/drawing/2014/main" id="{3D250B32-5B49-B51B-B591-7EF884C0B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0577" y="3152655"/>
                <a:ext cx="1600200" cy="1318550"/>
              </a:xfrm>
              <a:prstGeom prst="roundRect">
                <a:avLst>
                  <a:gd name="adj" fmla="val 20000"/>
                </a:avLst>
              </a:prstGeom>
              <a:solidFill>
                <a:srgbClr val="3B3BD2"/>
              </a:solidFill>
              <a:ln w="19050">
                <a:solidFill>
                  <a:srgbClr val="3B82F6"/>
                </a:solidFill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24" name="S1Txt">
                <a:extLst>
                  <a:ext uri="{FF2B5EF4-FFF2-40B4-BE49-F238E27FC236}">
                    <a16:creationId xmlns:a16="http://schemas.microsoft.com/office/drawing/2014/main" id="{44D1C03D-8EA6-9D90-DEF6-B0190DEA9098}"/>
                  </a:ext>
                </a:extLst>
              </p:cNvPr>
              <p:cNvSpPr/>
              <p:nvPr/>
            </p:nvSpPr>
            <p:spPr>
              <a:xfrm>
                <a:off x="5131855" y="3832663"/>
                <a:ext cx="1389927" cy="549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10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Détection des attaques  (Brute </a:t>
                </a:r>
                <a:r>
                  <a:rPr lang="fr-FR" sz="1000" b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t>Force, SQL Injection, XSS</a:t>
                </a:r>
                <a:endParaRPr lang="fr-FR" sz="1000" b="1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algn="ctr"/>
                <a:endParaRPr lang="fr-FR" sz="1000" dirty="0">
                  <a:solidFill>
                    <a:srgbClr val="CBD5E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Text 19">
                <a:extLst>
                  <a:ext uri="{FF2B5EF4-FFF2-40B4-BE49-F238E27FC236}">
                    <a16:creationId xmlns:a16="http://schemas.microsoft.com/office/drawing/2014/main" id="{F6AC8BEE-0B84-3216-7260-D26ADD2EF056}"/>
                  </a:ext>
                </a:extLst>
              </p:cNvPr>
              <p:cNvSpPr/>
              <p:nvPr/>
            </p:nvSpPr>
            <p:spPr>
              <a:xfrm>
                <a:off x="4969639" y="3224996"/>
                <a:ext cx="1763007" cy="108918"/>
              </a:xfrm>
              <a:prstGeom prst="rect">
                <a:avLst/>
              </a:prstGeom>
              <a:noFill/>
              <a:ln/>
            </p:spPr>
            <p:txBody>
              <a:bodyPr lIns="91440" tIns="45720" rIns="91440" bIns="4572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Journalisation</a:t>
                </a:r>
                <a:r>
                  <a:rPr lang="en-US" sz="1200" dirty="0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 &amp; </a:t>
                </a:r>
                <a:r>
                  <a:rPr lang="en-US" sz="1200" dirty="0" err="1">
                    <a:solidFill>
                      <a:schemeClr val="bg1"/>
                    </a:solidFill>
                    <a:latin typeface="+mn-lt"/>
                    <a:ea typeface="Calibri"/>
                    <a:cs typeface="Calibri"/>
                  </a:rPr>
                  <a:t>Alertes</a:t>
                </a:r>
              </a:p>
            </p:txBody>
          </p:sp>
          <p:pic>
            <p:nvPicPr>
              <p:cNvPr id="38" name="Image 37" descr="Une image contenant noir, obscurité&#10;&#10;Le contenu généré par l’IA peut être incorrect.">
                <a:extLst>
                  <a:ext uri="{FF2B5EF4-FFF2-40B4-BE49-F238E27FC236}">
                    <a16:creationId xmlns:a16="http://schemas.microsoft.com/office/drawing/2014/main" id="{E8CB63DB-553E-79A8-5280-7EE0D0853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2630" y="3388729"/>
                <a:ext cx="492889" cy="500124"/>
              </a:xfrm>
              <a:prstGeom prst="rect">
                <a:avLst/>
              </a:prstGeom>
            </p:spPr>
          </p:pic>
        </p:grpSp>
      </p:grpSp>
      <p:pic>
        <p:nvPicPr>
          <p:cNvPr id="41" name="Image 40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3DC8447-571D-D809-1FC8-4567A44E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41" y="2151683"/>
            <a:ext cx="145652" cy="312037"/>
          </a:xfrm>
          <a:prstGeom prst="rect">
            <a:avLst/>
          </a:prstGeom>
        </p:spPr>
      </p:pic>
      <p:pic>
        <p:nvPicPr>
          <p:cNvPr id="42" name="Image 4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E864E3E-B3C0-7F05-FA44-0982C2DF5E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892" y="2853401"/>
            <a:ext cx="427782" cy="420548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AE950F2D-C728-6F36-887F-F6CF4A48D4F7}"/>
              </a:ext>
            </a:extLst>
          </p:cNvPr>
          <p:cNvGrpSpPr/>
          <p:nvPr/>
        </p:nvGrpSpPr>
        <p:grpSpPr>
          <a:xfrm>
            <a:off x="7063029" y="1608118"/>
            <a:ext cx="1800526" cy="2965752"/>
            <a:chOff x="7063029" y="1608118"/>
            <a:chExt cx="1800526" cy="2965752"/>
          </a:xfrm>
        </p:grpSpPr>
        <p:sp>
          <p:nvSpPr>
            <p:cNvPr id="29" name="Shape 10">
              <a:extLst>
                <a:ext uri="{FF2B5EF4-FFF2-40B4-BE49-F238E27FC236}">
                  <a16:creationId xmlns:a16="http://schemas.microsoft.com/office/drawing/2014/main" id="{B9300721-6F6D-6EC5-74C5-85C67760D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3029" y="1608118"/>
              <a:ext cx="1800526" cy="2965752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4472C4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Image 31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176414DA-18B2-45DF-4367-B473DE64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90064" y="2643610"/>
              <a:ext cx="348206" cy="340971"/>
            </a:xfrm>
            <a:prstGeom prst="rect">
              <a:avLst/>
            </a:prstGeom>
          </p:spPr>
        </p:pic>
        <p:pic>
          <p:nvPicPr>
            <p:cNvPr id="43" name="Image 42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8AC59BDC-92A4-0E14-9127-EC220235F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51999" y="1724869"/>
              <a:ext cx="818428" cy="840130"/>
            </a:xfrm>
            <a:prstGeom prst="rect">
              <a:avLst/>
            </a:prstGeom>
          </p:spPr>
        </p:pic>
        <p:sp>
          <p:nvSpPr>
            <p:cNvPr id="48" name="S1Box">
              <a:extLst>
                <a:ext uri="{FF2B5EF4-FFF2-40B4-BE49-F238E27FC236}">
                  <a16:creationId xmlns:a16="http://schemas.microsoft.com/office/drawing/2014/main" id="{DAC6C624-BD87-EF3F-3632-1ADD1CF1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659" y="3159889"/>
              <a:ext cx="1600200" cy="1318550"/>
            </a:xfrm>
            <a:prstGeom prst="roundRect">
              <a:avLst>
                <a:gd name="adj" fmla="val 20000"/>
              </a:avLst>
            </a:prstGeom>
            <a:solidFill>
              <a:srgbClr val="3B3BD2"/>
            </a:solidFill>
            <a:ln w="19050">
              <a:solidFill>
                <a:srgbClr val="3B82F6"/>
              </a:solidFill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sp>
        <p:nvSpPr>
          <p:cNvPr id="49" name="S1Txt">
            <a:extLst>
              <a:ext uri="{FF2B5EF4-FFF2-40B4-BE49-F238E27FC236}">
                <a16:creationId xmlns:a16="http://schemas.microsoft.com/office/drawing/2014/main" id="{2E6E83FA-7EF7-46F5-0FE3-FFD1E5B88472}"/>
              </a:ext>
            </a:extLst>
          </p:cNvPr>
          <p:cNvSpPr/>
          <p:nvPr/>
        </p:nvSpPr>
        <p:spPr>
          <a:xfrm>
            <a:off x="7265937" y="3839897"/>
            <a:ext cx="1389927" cy="5493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Supervision des incidents en temps réel</a:t>
            </a:r>
            <a:endParaRPr lang="fr-FR" sz="10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fr-FR" sz="1000" dirty="0">
              <a:solidFill>
                <a:srgbClr val="CBD5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2C539C9-28AE-A3A9-62A1-F6F6651E0417}"/>
              </a:ext>
            </a:extLst>
          </p:cNvPr>
          <p:cNvSpPr/>
          <p:nvPr/>
        </p:nvSpPr>
        <p:spPr>
          <a:xfrm>
            <a:off x="7103721" y="3232230"/>
            <a:ext cx="1763007" cy="108918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Dashboard SOC</a:t>
            </a:r>
            <a:endParaRPr lang="en-US" sz="1200" dirty="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</p:txBody>
      </p:sp>
      <p:pic>
        <p:nvPicPr>
          <p:cNvPr id="53" name="Image 5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270884BB-B0BE-FD26-F0B3-F66F2C3D03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7745" y="3338091"/>
            <a:ext cx="644807" cy="5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1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0">
            <a:extLst>
              <a:ext uri="{FF2B5EF4-FFF2-40B4-BE49-F238E27FC236}">
                <a16:creationId xmlns:a16="http://schemas.microsoft.com/office/drawing/2014/main" id="{4D9ECE39-5B4F-74F7-1E34-35DF8EED3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19" name="Shape 1">
            <a:extLst>
              <a:ext uri="{FF2B5EF4-FFF2-40B4-BE49-F238E27FC236}">
                <a16:creationId xmlns:a16="http://schemas.microsoft.com/office/drawing/2014/main" id="{17129D08-39E1-1AC0-B8CA-262A7D55F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0" name="Shape 2">
            <a:extLst>
              <a:ext uri="{FF2B5EF4-FFF2-40B4-BE49-F238E27FC236}">
                <a16:creationId xmlns:a16="http://schemas.microsoft.com/office/drawing/2014/main" id="{C413DDAE-DCF2-B932-D1EF-30EEFBD9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86A2A1-5E73-286D-543C-F081AC047394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04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FDF16-DCE2-0237-256E-7ABF611A6AF0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9223" name="Shape 5">
            <a:extLst>
              <a:ext uri="{FF2B5EF4-FFF2-40B4-BE49-F238E27FC236}">
                <a16:creationId xmlns:a16="http://schemas.microsoft.com/office/drawing/2014/main" id="{463E618F-B990-DCD7-308E-CF502DCF6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4" name="Text 6">
            <a:extLst>
              <a:ext uri="{FF2B5EF4-FFF2-40B4-BE49-F238E27FC236}">
                <a16:creationId xmlns:a16="http://schemas.microsoft.com/office/drawing/2014/main" id="{40D6E2B1-CB69-37BE-B043-E539A7980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⚙️</a:t>
            </a:r>
            <a:endParaRPr lang="en-US" altLang="en-US" sz="2800"/>
          </a:p>
        </p:txBody>
      </p:sp>
      <p:sp>
        <p:nvSpPr>
          <p:cNvPr id="9225" name="Text 7">
            <a:extLst>
              <a:ext uri="{FF2B5EF4-FFF2-40B4-BE49-F238E27FC236}">
                <a16:creationId xmlns:a16="http://schemas.microsoft.com/office/drawing/2014/main" id="{27640025-6977-EAA0-00C4-E764B495A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Architecture &amp;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Technologies</a:t>
            </a:r>
            <a:endParaRPr lang="en-US" altLang="en-US" sz="1600"/>
          </a:p>
        </p:txBody>
      </p:sp>
      <p:sp>
        <p:nvSpPr>
          <p:cNvPr id="9226" name="Shape 8">
            <a:extLst>
              <a:ext uri="{FF2B5EF4-FFF2-40B4-BE49-F238E27FC236}">
                <a16:creationId xmlns:a16="http://schemas.microsoft.com/office/drawing/2014/main" id="{4004FCDC-8236-4D0B-5E2D-DA467C47B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Text 9">
            <a:extLst>
              <a:ext uri="{FF2B5EF4-FFF2-40B4-BE49-F238E27FC236}">
                <a16:creationId xmlns:a16="http://schemas.microsoft.com/office/drawing/2014/main" id="{2ABCD8E0-4E6A-B87F-C5F3-0E286D45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109538"/>
            <a:ext cx="6034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Modules </a:t>
            </a:r>
            <a:r>
              <a:rPr lang="en-US" altLang="en-US" sz="16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principaux</a:t>
            </a:r>
            <a:endParaRPr lang="en-US" alt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9228" name="Shape 10">
            <a:extLst>
              <a:ext uri="{FF2B5EF4-FFF2-40B4-BE49-F238E27FC236}">
                <a16:creationId xmlns:a16="http://schemas.microsoft.com/office/drawing/2014/main" id="{E1B69C18-DB27-CEC7-5772-46E89EB3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30225"/>
            <a:ext cx="1966912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9" name="Shape 11">
            <a:extLst>
              <a:ext uri="{FF2B5EF4-FFF2-40B4-BE49-F238E27FC236}">
                <a16:creationId xmlns:a16="http://schemas.microsoft.com/office/drawing/2014/main" id="{BF6B1B91-5421-C0D7-14D4-E77BD71F1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30225"/>
            <a:ext cx="1966912" cy="804863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0" name="Text 12">
            <a:extLst>
              <a:ext uri="{FF2B5EF4-FFF2-40B4-BE49-F238E27FC236}">
                <a16:creationId xmlns:a16="http://schemas.microsoft.com/office/drawing/2014/main" id="{852B6ADD-5A18-BAAB-FF07-E4FC89D1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66738"/>
            <a:ext cx="1966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🔑</a:t>
            </a:r>
            <a:endParaRPr lang="en-US" altLang="en-US" sz="2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0338DF-45D6-A058-7295-34ADDF6F8838}"/>
              </a:ext>
            </a:extLst>
          </p:cNvPr>
          <p:cNvSpPr/>
          <p:nvPr/>
        </p:nvSpPr>
        <p:spPr>
          <a:xfrm>
            <a:off x="2852738" y="950913"/>
            <a:ext cx="1966912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Authentification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Renforcée</a:t>
            </a:r>
            <a:endParaRPr lang="en-US" sz="1050" dirty="0">
              <a:latin typeface="+mn-lt"/>
            </a:endParaRPr>
          </a:p>
        </p:txBody>
      </p:sp>
      <p:sp>
        <p:nvSpPr>
          <p:cNvPr id="9232" name="Shape 14">
            <a:extLst>
              <a:ext uri="{FF2B5EF4-FFF2-40B4-BE49-F238E27FC236}">
                <a16:creationId xmlns:a16="http://schemas.microsoft.com/office/drawing/2014/main" id="{18CEDFC4-FD30-0290-87AD-97A194B4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471613"/>
            <a:ext cx="182563" cy="18415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BEC198-0C85-2FCB-AB7E-C97237582C1E}"/>
              </a:ext>
            </a:extLst>
          </p:cNvPr>
          <p:cNvSpPr/>
          <p:nvPr/>
        </p:nvSpPr>
        <p:spPr>
          <a:xfrm>
            <a:off x="3219450" y="1435100"/>
            <a:ext cx="1508125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OTP 8 chiffres (validité 10 min)</a:t>
            </a:r>
            <a:endParaRPr lang="en-US" sz="950" dirty="0">
              <a:latin typeface="+mn-lt"/>
            </a:endParaRPr>
          </a:p>
        </p:txBody>
      </p:sp>
      <p:sp>
        <p:nvSpPr>
          <p:cNvPr id="9234" name="Shape 16">
            <a:extLst>
              <a:ext uri="{FF2B5EF4-FFF2-40B4-BE49-F238E27FC236}">
                <a16:creationId xmlns:a16="http://schemas.microsoft.com/office/drawing/2014/main" id="{06EC0861-F163-31D6-23D4-1032C35EE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74850"/>
            <a:ext cx="182563" cy="18256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8144140-7389-98E2-3D1A-430D4EE09FD0}"/>
              </a:ext>
            </a:extLst>
          </p:cNvPr>
          <p:cNvSpPr/>
          <p:nvPr/>
        </p:nvSpPr>
        <p:spPr>
          <a:xfrm>
            <a:off x="3219450" y="1938338"/>
            <a:ext cx="1508125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Blocage après 5 tentatives</a:t>
            </a:r>
            <a:endParaRPr lang="en-US" sz="950" dirty="0">
              <a:latin typeface="+mn-lt"/>
            </a:endParaRPr>
          </a:p>
        </p:txBody>
      </p:sp>
      <p:sp>
        <p:nvSpPr>
          <p:cNvPr id="9236" name="Shape 18">
            <a:extLst>
              <a:ext uri="{FF2B5EF4-FFF2-40B4-BE49-F238E27FC236}">
                <a16:creationId xmlns:a16="http://schemas.microsoft.com/office/drawing/2014/main" id="{AD235045-8545-0731-4201-B2F06585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478088"/>
            <a:ext cx="182563" cy="182562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3557CCE-A0D8-AF7D-5B76-B6E0A2E0FFC7}"/>
              </a:ext>
            </a:extLst>
          </p:cNvPr>
          <p:cNvSpPr/>
          <p:nvPr/>
        </p:nvSpPr>
        <p:spPr>
          <a:xfrm>
            <a:off x="3219450" y="2441575"/>
            <a:ext cx="1508125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RBAC / ABAC : droits par rôle</a:t>
            </a:r>
            <a:endParaRPr lang="en-US" sz="950" dirty="0">
              <a:latin typeface="+mn-lt"/>
            </a:endParaRPr>
          </a:p>
        </p:txBody>
      </p:sp>
      <p:sp>
        <p:nvSpPr>
          <p:cNvPr id="9238" name="Shape 20">
            <a:extLst>
              <a:ext uri="{FF2B5EF4-FFF2-40B4-BE49-F238E27FC236}">
                <a16:creationId xmlns:a16="http://schemas.microsoft.com/office/drawing/2014/main" id="{8079691E-BD97-E2A1-3622-F92E0C98B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981325"/>
            <a:ext cx="182563" cy="18256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BC99D16-BE71-FF95-9C1C-712E203218BF}"/>
              </a:ext>
            </a:extLst>
          </p:cNvPr>
          <p:cNvSpPr/>
          <p:nvPr/>
        </p:nvSpPr>
        <p:spPr>
          <a:xfrm>
            <a:off x="3219450" y="2944813"/>
            <a:ext cx="1508125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Sessions sécurisées JWT</a:t>
            </a:r>
            <a:endParaRPr lang="en-US" sz="950" dirty="0">
              <a:latin typeface="+mn-lt"/>
            </a:endParaRPr>
          </a:p>
        </p:txBody>
      </p:sp>
      <p:sp>
        <p:nvSpPr>
          <p:cNvPr id="9240" name="Shape 22">
            <a:extLst>
              <a:ext uri="{FF2B5EF4-FFF2-40B4-BE49-F238E27FC236}">
                <a16:creationId xmlns:a16="http://schemas.microsoft.com/office/drawing/2014/main" id="{5A0ADED3-2820-CE51-EA2A-DFE5D685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730625"/>
            <a:ext cx="1966912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C53156-8A16-1692-7A54-4B7F76AAE721}"/>
              </a:ext>
            </a:extLst>
          </p:cNvPr>
          <p:cNvSpPr/>
          <p:nvPr/>
        </p:nvSpPr>
        <p:spPr>
          <a:xfrm>
            <a:off x="2925763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L'admin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doit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valider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son OTP avant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d'accéder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au SOC.</a:t>
            </a:r>
            <a:endParaRPr lang="en-US" sz="850" dirty="0">
              <a:latin typeface="+mn-lt"/>
            </a:endParaRPr>
          </a:p>
        </p:txBody>
      </p:sp>
      <p:sp>
        <p:nvSpPr>
          <p:cNvPr id="9242" name="Shape 24">
            <a:extLst>
              <a:ext uri="{FF2B5EF4-FFF2-40B4-BE49-F238E27FC236}">
                <a16:creationId xmlns:a16="http://schemas.microsoft.com/office/drawing/2014/main" id="{4E83F16F-F978-A85C-E341-46098E371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30225"/>
            <a:ext cx="1965325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3" name="Shape 25">
            <a:extLst>
              <a:ext uri="{FF2B5EF4-FFF2-40B4-BE49-F238E27FC236}">
                <a16:creationId xmlns:a16="http://schemas.microsoft.com/office/drawing/2014/main" id="{759384C2-4017-C4EA-400D-0FA75E02B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30225"/>
            <a:ext cx="1965325" cy="80486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4" name="Text 26">
            <a:extLst>
              <a:ext uri="{FF2B5EF4-FFF2-40B4-BE49-F238E27FC236}">
                <a16:creationId xmlns:a16="http://schemas.microsoft.com/office/drawing/2014/main" id="{4A0DAC5C-84F2-704A-474E-C596D6181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566738"/>
            <a:ext cx="1965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🔍</a:t>
            </a:r>
            <a:endParaRPr lang="en-US" altLang="en-US" sz="2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A537CD9-FABB-A0BF-2C6E-0886798FD485}"/>
              </a:ext>
            </a:extLst>
          </p:cNvPr>
          <p:cNvSpPr/>
          <p:nvPr/>
        </p:nvSpPr>
        <p:spPr>
          <a:xfrm>
            <a:off x="4956175" y="950913"/>
            <a:ext cx="1965325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Moteur de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Détection</a:t>
            </a:r>
            <a:endParaRPr lang="en-US" sz="1050" dirty="0">
              <a:latin typeface="+mn-lt"/>
            </a:endParaRPr>
          </a:p>
        </p:txBody>
      </p:sp>
      <p:sp>
        <p:nvSpPr>
          <p:cNvPr id="9246" name="Shape 28">
            <a:extLst>
              <a:ext uri="{FF2B5EF4-FFF2-40B4-BE49-F238E27FC236}">
                <a16:creationId xmlns:a16="http://schemas.microsoft.com/office/drawing/2014/main" id="{3D0C442E-8AA2-0EBB-E585-0726DAB0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1471613"/>
            <a:ext cx="182562" cy="18415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B1BC8E1-E995-62E6-9D68-5163B7B0EAC7}"/>
              </a:ext>
            </a:extLst>
          </p:cNvPr>
          <p:cNvSpPr/>
          <p:nvPr/>
        </p:nvSpPr>
        <p:spPr>
          <a:xfrm>
            <a:off x="5321300" y="1435100"/>
            <a:ext cx="1509713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Brute Force</a:t>
            </a:r>
            <a:endParaRPr lang="en-US" sz="950" dirty="0">
              <a:latin typeface="+mn-lt"/>
            </a:endParaRPr>
          </a:p>
        </p:txBody>
      </p:sp>
      <p:sp>
        <p:nvSpPr>
          <p:cNvPr id="9248" name="Shape 30">
            <a:extLst>
              <a:ext uri="{FF2B5EF4-FFF2-40B4-BE49-F238E27FC236}">
                <a16:creationId xmlns:a16="http://schemas.microsoft.com/office/drawing/2014/main" id="{6BB52A77-B208-A8EC-CA1A-0898D6C45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1974850"/>
            <a:ext cx="182562" cy="182563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5DDD2DB-B15C-B152-9FD0-4BEA507D6A3E}"/>
              </a:ext>
            </a:extLst>
          </p:cNvPr>
          <p:cNvSpPr/>
          <p:nvPr/>
        </p:nvSpPr>
        <p:spPr>
          <a:xfrm>
            <a:off x="5321300" y="1938338"/>
            <a:ext cx="1509713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Injection SQL</a:t>
            </a:r>
            <a:endParaRPr lang="en-US" sz="950" dirty="0">
              <a:latin typeface="+mn-lt"/>
            </a:endParaRPr>
          </a:p>
        </p:txBody>
      </p:sp>
      <p:sp>
        <p:nvSpPr>
          <p:cNvPr id="9250" name="Shape 32">
            <a:extLst>
              <a:ext uri="{FF2B5EF4-FFF2-40B4-BE49-F238E27FC236}">
                <a16:creationId xmlns:a16="http://schemas.microsoft.com/office/drawing/2014/main" id="{9F673050-4BF9-6DAE-F446-9793E83A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478088"/>
            <a:ext cx="182562" cy="18256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7FB449C-81F5-1F27-2C7D-3989210FE4D6}"/>
              </a:ext>
            </a:extLst>
          </p:cNvPr>
          <p:cNvSpPr/>
          <p:nvPr/>
        </p:nvSpPr>
        <p:spPr>
          <a:xfrm>
            <a:off x="5321300" y="2441575"/>
            <a:ext cx="1509713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Détecte : XSS</a:t>
            </a:r>
            <a:endParaRPr lang="en-US" sz="950" dirty="0">
              <a:latin typeface="+mn-lt"/>
            </a:endParaRPr>
          </a:p>
        </p:txBody>
      </p:sp>
      <p:sp>
        <p:nvSpPr>
          <p:cNvPr id="9252" name="Shape 34">
            <a:extLst>
              <a:ext uri="{FF2B5EF4-FFF2-40B4-BE49-F238E27FC236}">
                <a16:creationId xmlns:a16="http://schemas.microsoft.com/office/drawing/2014/main" id="{5191E648-1768-D7D6-2603-7035BDA15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981325"/>
            <a:ext cx="182562" cy="182563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4EA41AC-0ED1-96AD-C6CD-59A8E6C29522}"/>
              </a:ext>
            </a:extLst>
          </p:cNvPr>
          <p:cNvSpPr/>
          <p:nvPr/>
        </p:nvSpPr>
        <p:spPr>
          <a:xfrm>
            <a:off x="5321300" y="2944813"/>
            <a:ext cx="1509713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Règles configurable par admin</a:t>
            </a:r>
            <a:endParaRPr lang="en-US" sz="950" dirty="0">
              <a:latin typeface="+mn-lt"/>
            </a:endParaRPr>
          </a:p>
        </p:txBody>
      </p:sp>
      <p:sp>
        <p:nvSpPr>
          <p:cNvPr id="9254" name="Shape 36">
            <a:extLst>
              <a:ext uri="{FF2B5EF4-FFF2-40B4-BE49-F238E27FC236}">
                <a16:creationId xmlns:a16="http://schemas.microsoft.com/office/drawing/2014/main" id="{80836A08-702C-31C3-FF91-869CC906E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3730625"/>
            <a:ext cx="1965325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EE06BA6-417B-097A-FFE2-942A6BE1F1C5}"/>
              </a:ext>
            </a:extLst>
          </p:cNvPr>
          <p:cNvSpPr/>
          <p:nvPr/>
        </p:nvSpPr>
        <p:spPr>
          <a:xfrm>
            <a:off x="5029200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78350F"/>
                </a:solidFill>
                <a:latin typeface="+mn-lt"/>
              </a:rPr>
              <a:t>Payload SQL dans un champ →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alerte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immédiate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+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blocage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.</a:t>
            </a:r>
            <a:endParaRPr lang="en-US" sz="850" dirty="0">
              <a:latin typeface="+mn-lt"/>
            </a:endParaRPr>
          </a:p>
        </p:txBody>
      </p:sp>
      <p:sp>
        <p:nvSpPr>
          <p:cNvPr id="9256" name="Shape 38">
            <a:extLst>
              <a:ext uri="{FF2B5EF4-FFF2-40B4-BE49-F238E27FC236}">
                <a16:creationId xmlns:a16="http://schemas.microsoft.com/office/drawing/2014/main" id="{D843A837-E2F5-214A-F04C-C61059C19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30225"/>
            <a:ext cx="1965325" cy="370363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7" name="Shape 39">
            <a:extLst>
              <a:ext uri="{FF2B5EF4-FFF2-40B4-BE49-F238E27FC236}">
                <a16:creationId xmlns:a16="http://schemas.microsoft.com/office/drawing/2014/main" id="{7D022E98-B6EC-0616-53A3-E131B8FD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30225"/>
            <a:ext cx="1965325" cy="80486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8" name="Text 40">
            <a:extLst>
              <a:ext uri="{FF2B5EF4-FFF2-40B4-BE49-F238E27FC236}">
                <a16:creationId xmlns:a16="http://schemas.microsoft.com/office/drawing/2014/main" id="{EDCD7FE1-1A27-3A10-5955-7CBDC43C3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566738"/>
            <a:ext cx="1965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📊</a:t>
            </a:r>
            <a:endParaRPr lang="en-US" altLang="en-US" sz="22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FF038B1-C002-2279-44F2-A78174C8FBD0}"/>
              </a:ext>
            </a:extLst>
          </p:cNvPr>
          <p:cNvSpPr/>
          <p:nvPr/>
        </p:nvSpPr>
        <p:spPr>
          <a:xfrm>
            <a:off x="7059613" y="950913"/>
            <a:ext cx="1965325" cy="36512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Supervision &amp;</a:t>
            </a:r>
            <a:endParaRPr lang="en-US" sz="1050" dirty="0"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FFFFFF"/>
                </a:solidFill>
                <a:latin typeface="+mn-lt"/>
              </a:rPr>
              <a:t>Journalisation</a:t>
            </a:r>
            <a:endParaRPr lang="en-US" sz="1050" dirty="0">
              <a:latin typeface="+mn-lt"/>
            </a:endParaRPr>
          </a:p>
        </p:txBody>
      </p:sp>
      <p:sp>
        <p:nvSpPr>
          <p:cNvPr id="9260" name="Shape 42">
            <a:extLst>
              <a:ext uri="{FF2B5EF4-FFF2-40B4-BE49-F238E27FC236}">
                <a16:creationId xmlns:a16="http://schemas.microsoft.com/office/drawing/2014/main" id="{82A76A46-5D20-57E2-DB8A-52E4E9B13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1471613"/>
            <a:ext cx="182563" cy="18415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2577875-E524-B879-2705-BD1DB7A0BE45}"/>
              </a:ext>
            </a:extLst>
          </p:cNvPr>
          <p:cNvSpPr/>
          <p:nvPr/>
        </p:nvSpPr>
        <p:spPr>
          <a:xfrm>
            <a:off x="7424738" y="1435100"/>
            <a:ext cx="1509712" cy="257175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Tableau de bord SOC</a:t>
            </a:r>
            <a:endParaRPr lang="en-US" sz="950" dirty="0">
              <a:latin typeface="+mn-lt"/>
            </a:endParaRPr>
          </a:p>
        </p:txBody>
      </p:sp>
      <p:sp>
        <p:nvSpPr>
          <p:cNvPr id="9262" name="Shape 44">
            <a:extLst>
              <a:ext uri="{FF2B5EF4-FFF2-40B4-BE49-F238E27FC236}">
                <a16:creationId xmlns:a16="http://schemas.microsoft.com/office/drawing/2014/main" id="{948AA5CB-C763-BEA8-3DA4-C1A340F21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1974850"/>
            <a:ext cx="182563" cy="182563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3C7FE60-F59E-927D-EA25-13B3A28DA6AE}"/>
              </a:ext>
            </a:extLst>
          </p:cNvPr>
          <p:cNvSpPr/>
          <p:nvPr/>
        </p:nvSpPr>
        <p:spPr>
          <a:xfrm>
            <a:off x="7424738" y="1938338"/>
            <a:ext cx="1509712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Centre d'alertes en temps réel</a:t>
            </a:r>
            <a:endParaRPr lang="en-US" sz="950" dirty="0">
              <a:latin typeface="+mn-lt"/>
            </a:endParaRPr>
          </a:p>
        </p:txBody>
      </p:sp>
      <p:sp>
        <p:nvSpPr>
          <p:cNvPr id="9264" name="Shape 46">
            <a:extLst>
              <a:ext uri="{FF2B5EF4-FFF2-40B4-BE49-F238E27FC236}">
                <a16:creationId xmlns:a16="http://schemas.microsoft.com/office/drawing/2014/main" id="{9EC83200-95B8-6375-A69A-866F346F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2478088"/>
            <a:ext cx="182563" cy="18256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E74EC70-CDF1-78A9-7F7C-7264C83C2ADF}"/>
              </a:ext>
            </a:extLst>
          </p:cNvPr>
          <p:cNvSpPr/>
          <p:nvPr/>
        </p:nvSpPr>
        <p:spPr>
          <a:xfrm>
            <a:off x="7424738" y="2441575"/>
            <a:ext cx="1509712" cy="255588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Audit log de chaque action</a:t>
            </a:r>
            <a:endParaRPr lang="en-US" sz="950" dirty="0">
              <a:latin typeface="+mn-lt"/>
            </a:endParaRPr>
          </a:p>
        </p:txBody>
      </p:sp>
      <p:sp>
        <p:nvSpPr>
          <p:cNvPr id="9266" name="Shape 48">
            <a:extLst>
              <a:ext uri="{FF2B5EF4-FFF2-40B4-BE49-F238E27FC236}">
                <a16:creationId xmlns:a16="http://schemas.microsoft.com/office/drawing/2014/main" id="{13B8E9EF-672B-7D78-172C-87AF8D481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2981325"/>
            <a:ext cx="182563" cy="182563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0AB1A30-DDB6-1095-76CD-198E9B67D1D3}"/>
              </a:ext>
            </a:extLst>
          </p:cNvPr>
          <p:cNvSpPr/>
          <p:nvPr/>
        </p:nvSpPr>
        <p:spPr>
          <a:xfrm>
            <a:off x="7424738" y="2944813"/>
            <a:ext cx="1509712" cy="255587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111827"/>
                </a:solidFill>
                <a:latin typeface="+mn-lt"/>
              </a:rPr>
              <a:t>Blocage IP automatique</a:t>
            </a:r>
            <a:endParaRPr lang="en-US" sz="950" dirty="0">
              <a:latin typeface="+mn-lt"/>
            </a:endParaRPr>
          </a:p>
        </p:txBody>
      </p:sp>
      <p:sp>
        <p:nvSpPr>
          <p:cNvPr id="9268" name="Shape 50">
            <a:extLst>
              <a:ext uri="{FF2B5EF4-FFF2-40B4-BE49-F238E27FC236}">
                <a16:creationId xmlns:a16="http://schemas.microsoft.com/office/drawing/2014/main" id="{FD74A6ED-57E9-F49A-2B02-A3B7208A8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3730625"/>
            <a:ext cx="1965325" cy="476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96A3A74-0561-76CC-EEB6-31C9C3282155}"/>
              </a:ext>
            </a:extLst>
          </p:cNvPr>
          <p:cNvSpPr/>
          <p:nvPr/>
        </p:nvSpPr>
        <p:spPr>
          <a:xfrm>
            <a:off x="7132638" y="3730625"/>
            <a:ext cx="1819275" cy="47625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 err="1">
                <a:solidFill>
                  <a:srgbClr val="78350F"/>
                </a:solidFill>
                <a:latin typeface="+mn-lt"/>
              </a:rPr>
              <a:t>L'enseignant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voit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les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attaques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</a:t>
            </a:r>
            <a:r>
              <a:rPr lang="en-US" sz="850" dirty="0" err="1">
                <a:solidFill>
                  <a:srgbClr val="78350F"/>
                </a:solidFill>
                <a:latin typeface="+mn-lt"/>
              </a:rPr>
              <a:t>s'afficher</a:t>
            </a:r>
            <a:r>
              <a:rPr lang="en-US" sz="850" dirty="0">
                <a:solidFill>
                  <a:srgbClr val="78350F"/>
                </a:solidFill>
                <a:latin typeface="+mn-lt"/>
              </a:rPr>
              <a:t> sur le dashboard.</a:t>
            </a:r>
            <a:endParaRPr lang="en-US" sz="850" dirty="0">
              <a:latin typeface="+mn-lt"/>
            </a:endParaRPr>
          </a:p>
        </p:txBody>
      </p:sp>
      <p:sp>
        <p:nvSpPr>
          <p:cNvPr id="9270" name="Shape 52">
            <a:extLst>
              <a:ext uri="{FF2B5EF4-FFF2-40B4-BE49-F238E27FC236}">
                <a16:creationId xmlns:a16="http://schemas.microsoft.com/office/drawing/2014/main" id="{DF08DD86-C72F-D1D8-683F-D3008040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270" y="4236857"/>
            <a:ext cx="6204713" cy="337092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5849844-CE06-B24B-127A-1460FC925B57}"/>
              </a:ext>
            </a:extLst>
          </p:cNvPr>
          <p:cNvSpPr/>
          <p:nvPr/>
        </p:nvSpPr>
        <p:spPr>
          <a:xfrm>
            <a:off x="2852738" y="4251325"/>
            <a:ext cx="6016625" cy="293688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b="1">
                <a:solidFill>
                  <a:srgbClr val="2929CC"/>
                </a:solidFill>
                <a:latin typeface="+mn-lt"/>
              </a:rPr>
              <a:t>🧰 Stack : PHP 8.2 · Laravel 12 · Tailwind CSS · Alpine.js · SQLite / MySQL</a:t>
            </a:r>
            <a:endParaRPr lang="en-US" sz="950" b="1">
              <a:solidFill>
                <a:srgbClr val="2929CC"/>
              </a:solidFill>
              <a:latin typeface="+mn-l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hape 0">
            <a:extLst>
              <a:ext uri="{FF2B5EF4-FFF2-40B4-BE49-F238E27FC236}">
                <a16:creationId xmlns:a16="http://schemas.microsoft.com/office/drawing/2014/main" id="{53E4D842-6FBD-84B8-3598-8C5BE64A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547878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7" name="Shape 1">
            <a:extLst>
              <a:ext uri="{FF2B5EF4-FFF2-40B4-BE49-F238E27FC236}">
                <a16:creationId xmlns:a16="http://schemas.microsoft.com/office/drawing/2014/main" id="{F6474ED3-767C-A118-9267-0B23E9D1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8" name="Shape 2">
            <a:extLst>
              <a:ext uri="{FF2B5EF4-FFF2-40B4-BE49-F238E27FC236}">
                <a16:creationId xmlns:a16="http://schemas.microsoft.com/office/drawing/2014/main" id="{F5C97D13-31FB-0158-81CE-7EDFC1E24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FECF0F-12D1-075E-F90C-DB4F9A5837D2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7229B5-6886-9BEE-505C-C3468851843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1271" name="Shape 5">
            <a:extLst>
              <a:ext uri="{FF2B5EF4-FFF2-40B4-BE49-F238E27FC236}">
                <a16:creationId xmlns:a16="http://schemas.microsoft.com/office/drawing/2014/main" id="{3444045F-9F0E-BB44-CC2D-DCF22DEF6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2" name="Text 6">
            <a:extLst>
              <a:ext uri="{FF2B5EF4-FFF2-40B4-BE49-F238E27FC236}">
                <a16:creationId xmlns:a16="http://schemas.microsoft.com/office/drawing/2014/main" id="{01C5C399-6889-1310-8491-0B4DF9398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1273" name="Text 7">
            <a:extLst>
              <a:ext uri="{FF2B5EF4-FFF2-40B4-BE49-F238E27FC236}">
                <a16:creationId xmlns:a16="http://schemas.microsoft.com/office/drawing/2014/main" id="{B381D5FB-4331-924D-2777-6DC1067A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1274" name="Shape 8">
            <a:extLst>
              <a:ext uri="{FF2B5EF4-FFF2-40B4-BE49-F238E27FC236}">
                <a16:creationId xmlns:a16="http://schemas.microsoft.com/office/drawing/2014/main" id="{038377D3-C3A0-0308-91C8-2D377C7C7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878" y="0"/>
            <a:ext cx="659612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1275" name="Text 9">
            <a:extLst>
              <a:ext uri="{FF2B5EF4-FFF2-40B4-BE49-F238E27FC236}">
                <a16:creationId xmlns:a16="http://schemas.microsoft.com/office/drawing/2014/main" id="{686A5DB7-BBF0-A4BD-041A-7E74EA6A7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Diagrammes de Cas d'Utilisation</a:t>
            </a:r>
            <a:endParaRPr lang="en-US" altLang="en-US" sz="1500"/>
          </a:p>
        </p:txBody>
      </p:sp>
      <p:pic>
        <p:nvPicPr>
          <p:cNvPr id="11277" name="Image 1" descr="preencoded.png">
            <a:extLst>
              <a:ext uri="{FF2B5EF4-FFF2-40B4-BE49-F238E27FC236}">
                <a16:creationId xmlns:a16="http://schemas.microsoft.com/office/drawing/2014/main" id="{BCE756D6-D2AA-C664-F962-FAAC448B0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456" y="459834"/>
            <a:ext cx="6023124" cy="333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82" name="Shape 14">
            <a:extLst>
              <a:ext uri="{FF2B5EF4-FFF2-40B4-BE49-F238E27FC236}">
                <a16:creationId xmlns:a16="http://schemas.microsoft.com/office/drawing/2014/main" id="{E9322474-5889-7E95-EBAA-270F1270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186" y="3898172"/>
            <a:ext cx="1873250" cy="115483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4" name="Text 16">
            <a:extLst>
              <a:ext uri="{FF2B5EF4-FFF2-40B4-BE49-F238E27FC236}">
                <a16:creationId xmlns:a16="http://schemas.microsoft.com/office/drawing/2014/main" id="{0463E5F2-52B8-CEF9-D19D-4BE1402E6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99" y="3895656"/>
            <a:ext cx="1352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Acteurs</a:t>
            </a:r>
            <a:endParaRPr lang="en-US" altLang="en-US" sz="1200" b="1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11285" name="Text 17">
            <a:extLst>
              <a:ext uri="{FF2B5EF4-FFF2-40B4-BE49-F238E27FC236}">
                <a16:creationId xmlns:a16="http://schemas.microsoft.com/office/drawing/2014/main" id="{634A9A3B-F765-77B8-06A3-8E90FC30D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7764" y="4192728"/>
            <a:ext cx="1794653" cy="7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Utilisateur</a:t>
            </a:r>
            <a:endParaRPr lang="fr-FR" sz="1100"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Attaquant</a:t>
            </a:r>
            <a:endParaRPr lang="en-US" altLang="en-US" sz="11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Administrateur</a:t>
            </a:r>
            <a:endParaRPr lang="en-US" altLang="en-US" sz="110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94" name="Shape 26">
            <a:extLst>
              <a:ext uri="{FF2B5EF4-FFF2-40B4-BE49-F238E27FC236}">
                <a16:creationId xmlns:a16="http://schemas.microsoft.com/office/drawing/2014/main" id="{29A54306-ACD1-AF4D-061C-9EA3E70C2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699" y="3902557"/>
            <a:ext cx="3785213" cy="1152976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4D9B5A7C-0AD3-73B8-2F35-34EC26A1F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461" y="3906439"/>
            <a:ext cx="1891700" cy="20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Fonctions</a:t>
            </a:r>
            <a:r>
              <a:rPr lang="en-US" altLang="en-US" sz="1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b="1" dirty="0" err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principales</a:t>
            </a:r>
            <a:endParaRPr lang="en-US" altLang="en-US" sz="1200" b="1" dirty="0" err="1">
              <a:solidFill>
                <a:srgbClr val="111827"/>
              </a:solidFill>
              <a:ea typeface="Calibri"/>
              <a:cs typeface="Calibri"/>
            </a:endParaRP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C79BF10-1728-A88F-67B3-3B8C5316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594" y="4192728"/>
            <a:ext cx="1794653" cy="7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OTP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Simulation </a:t>
            </a:r>
            <a:r>
              <a:rPr lang="en-US" altLang="en-US" sz="11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d'attaques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Gestion des incidents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Supervision SOC</a:t>
            </a:r>
            <a:endParaRPr lang="en-US" altLang="en-US" sz="1100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0">
            <a:extLst>
              <a:ext uri="{FF2B5EF4-FFF2-40B4-BE49-F238E27FC236}">
                <a16:creationId xmlns:a16="http://schemas.microsoft.com/office/drawing/2014/main" id="{B119111C-A427-A1F8-7704-FC2A53DD4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92087" cy="5134841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5" name="Shape 1">
            <a:extLst>
              <a:ext uri="{FF2B5EF4-FFF2-40B4-BE49-F238E27FC236}">
                <a16:creationId xmlns:a16="http://schemas.microsoft.com/office/drawing/2014/main" id="{D04BB4CE-D781-668E-0723-A9769123C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6" name="Shape 2">
            <a:extLst>
              <a:ext uri="{FF2B5EF4-FFF2-40B4-BE49-F238E27FC236}">
                <a16:creationId xmlns:a16="http://schemas.microsoft.com/office/drawing/2014/main" id="{141F4DD4-EBA7-8BEE-D212-DDC4AAFC8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A51567-71E7-752D-364A-1E724AE7F507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180FB3-5BED-D3FA-F3D9-A0980DB5A5A2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3319" name="Shape 5">
            <a:extLst>
              <a:ext uri="{FF2B5EF4-FFF2-40B4-BE49-F238E27FC236}">
                <a16:creationId xmlns:a16="http://schemas.microsoft.com/office/drawing/2014/main" id="{4BBC3663-18C6-394A-ED9A-B771291D6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0" name="Text 6">
            <a:extLst>
              <a:ext uri="{FF2B5EF4-FFF2-40B4-BE49-F238E27FC236}">
                <a16:creationId xmlns:a16="http://schemas.microsoft.com/office/drawing/2014/main" id="{76BD2848-E2D3-CCB5-7883-0266C8595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3321" name="Text 7">
            <a:extLst>
              <a:ext uri="{FF2B5EF4-FFF2-40B4-BE49-F238E27FC236}">
                <a16:creationId xmlns:a16="http://schemas.microsoft.com/office/drawing/2014/main" id="{0D87DB9E-E36B-291B-A677-E8C530F10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3322" name="Shape 8">
            <a:extLst>
              <a:ext uri="{FF2B5EF4-FFF2-40B4-BE49-F238E27FC236}">
                <a16:creationId xmlns:a16="http://schemas.microsoft.com/office/drawing/2014/main" id="{87E27A14-D45E-DA4E-BE73-AFC1B7DE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3" name="Text 9">
            <a:extLst>
              <a:ext uri="{FF2B5EF4-FFF2-40B4-BE49-F238E27FC236}">
                <a16:creationId xmlns:a16="http://schemas.microsoft.com/office/drawing/2014/main" id="{402C1603-FB2A-8680-DE4C-B90163B6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Diagramme de Classes</a:t>
            </a:r>
            <a:endParaRPr lang="en-US" altLang="en-US" sz="1500"/>
          </a:p>
        </p:txBody>
      </p:sp>
      <p:pic>
        <p:nvPicPr>
          <p:cNvPr id="13324" name="Image 0" descr="preencoded.png">
            <a:extLst>
              <a:ext uri="{FF2B5EF4-FFF2-40B4-BE49-F238E27FC236}">
                <a16:creationId xmlns:a16="http://schemas.microsoft.com/office/drawing/2014/main" id="{8B47CC4A-5DDC-B0A8-B961-F932ADC82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774" y="460106"/>
            <a:ext cx="6648226" cy="3883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6" name="Shape 31">
            <a:extLst>
              <a:ext uri="{FF2B5EF4-FFF2-40B4-BE49-F238E27FC236}">
                <a16:creationId xmlns:a16="http://schemas.microsoft.com/office/drawing/2014/main" id="{3C02C584-FF7B-B7EC-72AF-51F93E65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78219"/>
            <a:ext cx="6034088" cy="660369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7" name="Text 32">
            <a:extLst>
              <a:ext uri="{FF2B5EF4-FFF2-40B4-BE49-F238E27FC236}">
                <a16:creationId xmlns:a16="http://schemas.microsoft.com/office/drawing/2014/main" id="{3CB2AFA3-12D5-64A6-E2A9-DF0832001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4578171"/>
            <a:ext cx="5815012" cy="482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Le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diagramme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décrit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la structure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logique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système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 et les relations entre les modules de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détection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, supervision et </a:t>
            </a:r>
            <a:r>
              <a:rPr lang="en-US" altLang="en-US" sz="1200" dirty="0" err="1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200" dirty="0">
                <a:solidFill>
                  <a:srgbClr val="164E63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200" dirty="0">
              <a:solidFill>
                <a:srgbClr val="164E6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F35847A4-0403-5626-DC52-312FA459C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77645809-1F57-E214-204C-B85214A3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FEE080F4-F36E-7E2D-CED3-60D3910E6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D12C89-C17E-EFCF-4E93-C3C7F74ED3E8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13B358-2741-F118-24A8-710C070A2C1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98A71F0C-1C71-0A9F-7751-9CA3B2523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DF2427DB-8B7C-6F1C-32BD-425219FD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C50B242E-18B2-BB20-DF59-F62EAE2AF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3D6AD7D1-73D4-8830-8320-488220DD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C2A4A066-EFC9-61E0-B711-0D1D18D0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diagramme, capture d’écran, Parallèle&#10;&#10;Le contenu généré par l’IA peut être incorrect.">
            <a:extLst>
              <a:ext uri="{FF2B5EF4-FFF2-40B4-BE49-F238E27FC236}">
                <a16:creationId xmlns:a16="http://schemas.microsoft.com/office/drawing/2014/main" id="{CDA90BAD-C49D-7BC7-149A-7247028D4E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667" y="460106"/>
            <a:ext cx="6400846" cy="3720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2709BD7F-3C98-FAB4-DD07-1D493CBA9126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BACE2A83-C284-6056-7C7A-5F39A4C85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C37EEB15-CFAA-2EDA-1668-16C0A9F00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altLang="en-US" sz="1200" i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Authentification</a:t>
              </a:r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OTP</a:t>
              </a:r>
              <a:endParaRPr lang="en-US" altLang="en-US" sz="1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578E9A7B-A5F8-24D4-9ADC-71B7850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1DA26009-8988-F0A4-0499-382166C62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851" y="4482531"/>
            <a:ext cx="2464909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B411DE2-1469-254F-0606-40854AE8CC3F}"/>
              </a:ext>
            </a:extLst>
          </p:cNvPr>
          <p:cNvGrpSpPr/>
          <p:nvPr/>
        </p:nvGrpSpPr>
        <p:grpSpPr>
          <a:xfrm>
            <a:off x="6693140" y="4610010"/>
            <a:ext cx="2184639" cy="458907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DDB515D1-662E-CE8A-209A-7C5BC42A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43D854C5-7B82-AD1D-55D7-37B55007908C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Vérification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du code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F9C6AFC4-B888-5F55-85A4-12575DECB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49064395-2073-B865-E173-28FA4122F4EA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Session JWT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créée</a:t>
              </a:r>
              <a:endParaRPr lang="en-US" sz="1200" dirty="0" err="1">
                <a:latin typeface="+mn-lt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4A9C1F-84FB-D3A0-073D-7D97449B9270}"/>
              </a:ext>
            </a:extLst>
          </p:cNvPr>
          <p:cNvGrpSpPr/>
          <p:nvPr/>
        </p:nvGrpSpPr>
        <p:grpSpPr>
          <a:xfrm>
            <a:off x="3005347" y="4611477"/>
            <a:ext cx="2475780" cy="460495"/>
            <a:chOff x="2908300" y="3565525"/>
            <a:chExt cx="1828800" cy="568325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94E900F7-13C2-8ACF-B0A6-5F12F3FBB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5C0281F-965B-F6FA-7DFA-2D64A63E0012}"/>
                </a:ext>
              </a:extLst>
            </p:cNvPr>
            <p:cNvSpPr/>
            <p:nvPr/>
          </p:nvSpPr>
          <p:spPr>
            <a:xfrm>
              <a:off x="3108325" y="3565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Saisie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Email + Mot de passe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F19D59D7-D051-1D4E-1FF7-786BD922D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E463074-2A45-801D-D8F3-08B04835DB0C}"/>
                </a:ext>
              </a:extLst>
            </p:cNvPr>
            <p:cNvSpPr/>
            <p:nvPr/>
          </p:nvSpPr>
          <p:spPr>
            <a:xfrm>
              <a:off x="3108325" y="3905250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Génération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&amp; envoi OTP</a:t>
              </a:r>
              <a:endParaRPr lang="en-US" sz="1200" dirty="0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3EBC3-ADCB-FF17-5E17-B117F462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0BCB3BB4-B654-8C52-A9D7-2EA1D6D2D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F2E985D2-302F-104A-3244-496D5A9E3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2DEFBC9C-F199-BF3F-929A-0C8C225F5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E9D9FA-B39F-AAD3-1A99-09F1EE0CBABF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356B44-53FE-D97F-1F6F-E57551463D3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861EC5EF-B79C-E5E9-C096-85370CDBC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48E2A118-D8FA-A12A-DDD2-79E76ECEE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39AA9EC0-3700-70BC-FCD0-5FB15895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BA41F001-B434-8FC0-1CF9-E9FD7366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3EBEC308-2D23-81EB-8025-E62C071A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4FC5CE6-9688-440C-C1E2-AAFF87CC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6399" y="460106"/>
            <a:ext cx="6413151" cy="373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5FAC912A-2733-4418-C013-1429A33DB4DB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5CBFC247-6891-3A62-912E-C2338380D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A16A54DA-FF58-64A4-BA11-A96736CF5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Gestion incident SOC</a:t>
              </a: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A3883490-4435-189C-23FE-AD296C52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20CAC836-055D-9B8F-88F7-8B08FC553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851" y="4482531"/>
            <a:ext cx="2464909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FC0776C-C297-1E79-0FD3-8504AD23B5E2}"/>
              </a:ext>
            </a:extLst>
          </p:cNvPr>
          <p:cNvGrpSpPr/>
          <p:nvPr/>
        </p:nvGrpSpPr>
        <p:grpSpPr>
          <a:xfrm>
            <a:off x="6693140" y="4610010"/>
            <a:ext cx="2184639" cy="458907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9854DA7D-7735-11AC-0FC5-2253433AC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5650CF95-365D-A8C8-8237-E4F7C8E2333A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Bloque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l'IP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source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8D66204E-E472-7AAC-A5F5-E263F5BC9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BBA117DE-1665-E8DC-D714-6C09C14A632B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Clôturer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l'incident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D3919DD-8293-486A-3ABB-E01115B2BF9C}"/>
              </a:ext>
            </a:extLst>
          </p:cNvPr>
          <p:cNvGrpSpPr/>
          <p:nvPr/>
        </p:nvGrpSpPr>
        <p:grpSpPr>
          <a:xfrm>
            <a:off x="3005347" y="4611477"/>
            <a:ext cx="2475780" cy="460495"/>
            <a:chOff x="2908300" y="3565525"/>
            <a:chExt cx="1828800" cy="568325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57E9EA9A-384A-2B97-3373-B21CE349B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FCE8077F-0DB4-A12E-0EC2-5D74B9FCC6BC}"/>
                </a:ext>
              </a:extLst>
            </p:cNvPr>
            <p:cNvSpPr/>
            <p:nvPr/>
          </p:nvSpPr>
          <p:spPr>
            <a:xfrm>
              <a:off x="3108325" y="3565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Admin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consulte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les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attaques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21F7D210-36E0-1A44-974B-4D1215BCB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2AC12232-0D57-850D-2E00-8246043C7848}"/>
                </a:ext>
              </a:extLst>
            </p:cNvPr>
            <p:cNvSpPr/>
            <p:nvPr/>
          </p:nvSpPr>
          <p:spPr>
            <a:xfrm>
              <a:off x="3108325" y="3905250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Sélectionne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un incident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19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E9D86-C545-4CD9-07A2-19A493C9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>
            <a:extLst>
              <a:ext uri="{FF2B5EF4-FFF2-40B4-BE49-F238E27FC236}">
                <a16:creationId xmlns:a16="http://schemas.microsoft.com/office/drawing/2014/main" id="{DEB3A29B-C952-92F0-8751-D6E2DB8CE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3" name="Shape 1">
            <a:extLst>
              <a:ext uri="{FF2B5EF4-FFF2-40B4-BE49-F238E27FC236}">
                <a16:creationId xmlns:a16="http://schemas.microsoft.com/office/drawing/2014/main" id="{868F091B-1D06-53CC-5C4E-004BD1C6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4" name="Shape 2">
            <a:extLst>
              <a:ext uri="{FF2B5EF4-FFF2-40B4-BE49-F238E27FC236}">
                <a16:creationId xmlns:a16="http://schemas.microsoft.com/office/drawing/2014/main" id="{048C2092-4CCD-F9BD-A818-20CC88642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6206FA-8935-B410-68D8-63AAFAFFAB79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9C00AA-4763-F1AF-63FB-66BD96A0E68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5367" name="Shape 5">
            <a:extLst>
              <a:ext uri="{FF2B5EF4-FFF2-40B4-BE49-F238E27FC236}">
                <a16:creationId xmlns:a16="http://schemas.microsoft.com/office/drawing/2014/main" id="{513C07A7-57E7-991B-0318-B06616EB4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Text 6">
            <a:extLst>
              <a:ext uri="{FF2B5EF4-FFF2-40B4-BE49-F238E27FC236}">
                <a16:creationId xmlns:a16="http://schemas.microsoft.com/office/drawing/2014/main" id="{E2886863-0DAE-8C25-6B67-A277B5D96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5369" name="Text 7">
            <a:extLst>
              <a:ext uri="{FF2B5EF4-FFF2-40B4-BE49-F238E27FC236}">
                <a16:creationId xmlns:a16="http://schemas.microsoft.com/office/drawing/2014/main" id="{5519AC7C-6E2B-7F8C-6232-F9A4548E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5370" name="Shape 8">
            <a:extLst>
              <a:ext uri="{FF2B5EF4-FFF2-40B4-BE49-F238E27FC236}">
                <a16:creationId xmlns:a16="http://schemas.microsoft.com/office/drawing/2014/main" id="{2D86919C-C285-4553-CD42-D9C685A8C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Text 9">
            <a:extLst>
              <a:ext uri="{FF2B5EF4-FFF2-40B4-BE49-F238E27FC236}">
                <a16:creationId xmlns:a16="http://schemas.microsoft.com/office/drawing/2014/main" id="{039471C4-D6F0-CB56-DE05-83472AE73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de Séquence — Les flux étape par étape</a:t>
            </a:r>
            <a:endParaRPr lang="en-US" altLang="en-US" sz="1400"/>
          </a:p>
        </p:txBody>
      </p:sp>
      <p:pic>
        <p:nvPicPr>
          <p:cNvPr id="15372" name="Image 0" descr="Une image contenant texte, diagramme, Parallèle, Police&#10;&#10;Le contenu généré par l’IA peut être incorrect.">
            <a:extLst>
              <a:ext uri="{FF2B5EF4-FFF2-40B4-BE49-F238E27FC236}">
                <a16:creationId xmlns:a16="http://schemas.microsoft.com/office/drawing/2014/main" id="{F1B9CFF7-1F1F-2ADC-B814-BE5D4068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750" y="460106"/>
            <a:ext cx="6398883" cy="373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F34DB4C8-42E1-2DD7-CF22-4E619E6B192C}"/>
              </a:ext>
            </a:extLst>
          </p:cNvPr>
          <p:cNvGrpSpPr/>
          <p:nvPr/>
        </p:nvGrpSpPr>
        <p:grpSpPr>
          <a:xfrm>
            <a:off x="2835275" y="4187466"/>
            <a:ext cx="6310880" cy="264723"/>
            <a:chOff x="2835275" y="3292475"/>
            <a:chExt cx="1965325" cy="200025"/>
          </a:xfrm>
        </p:grpSpPr>
        <p:sp>
          <p:nvSpPr>
            <p:cNvPr id="15373" name="Shape 10">
              <a:extLst>
                <a:ext uri="{FF2B5EF4-FFF2-40B4-BE49-F238E27FC236}">
                  <a16:creationId xmlns:a16="http://schemas.microsoft.com/office/drawing/2014/main" id="{AED5EB2D-E19F-AD79-1617-1B4D0E4F6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Text 11">
              <a:extLst>
                <a:ext uri="{FF2B5EF4-FFF2-40B4-BE49-F238E27FC236}">
                  <a16:creationId xmlns:a16="http://schemas.microsoft.com/office/drawing/2014/main" id="{1EE85528-F742-79AD-910D-DCA92B1E8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Modification donnée métier</a:t>
              </a:r>
            </a:p>
          </p:txBody>
        </p:sp>
      </p:grpSp>
      <p:sp>
        <p:nvSpPr>
          <p:cNvPr id="3" name="Shape 40">
            <a:extLst>
              <a:ext uri="{FF2B5EF4-FFF2-40B4-BE49-F238E27FC236}">
                <a16:creationId xmlns:a16="http://schemas.microsoft.com/office/drawing/2014/main" id="{F9D988B7-1888-9ADB-C1FB-F87CFE0DF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482531"/>
            <a:ext cx="2853098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0">
            <a:extLst>
              <a:ext uri="{FF2B5EF4-FFF2-40B4-BE49-F238E27FC236}">
                <a16:creationId xmlns:a16="http://schemas.microsoft.com/office/drawing/2014/main" id="{8A7E6EA3-66DB-0D65-4F05-55C7811C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880" y="4482531"/>
            <a:ext cx="2863880" cy="66031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A7EDC6C-231A-05A7-FCC6-FD4E9CCAD236}"/>
              </a:ext>
            </a:extLst>
          </p:cNvPr>
          <p:cNvGrpSpPr/>
          <p:nvPr/>
        </p:nvGrpSpPr>
        <p:grpSpPr>
          <a:xfrm>
            <a:off x="6272603" y="4577661"/>
            <a:ext cx="2734572" cy="480473"/>
            <a:chOff x="2908300" y="4243388"/>
            <a:chExt cx="1828800" cy="566737"/>
          </a:xfrm>
        </p:grpSpPr>
        <p:sp>
          <p:nvSpPr>
            <p:cNvPr id="15379" name="Shape 16">
              <a:extLst>
                <a:ext uri="{FF2B5EF4-FFF2-40B4-BE49-F238E27FC236}">
                  <a16:creationId xmlns:a16="http://schemas.microsoft.com/office/drawing/2014/main" id="{71312D19-9E30-4F4A-A3AE-B89C26BB7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260850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DBA86F1A-8D52-0482-4D29-5D0167D050B2}"/>
                </a:ext>
              </a:extLst>
            </p:cNvPr>
            <p:cNvSpPr/>
            <p:nvPr/>
          </p:nvSpPr>
          <p:spPr>
            <a:xfrm>
              <a:off x="3108325" y="4243388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③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suspect →  Alerte SOC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81" name="Shape 18">
              <a:extLst>
                <a:ext uri="{FF2B5EF4-FFF2-40B4-BE49-F238E27FC236}">
                  <a16:creationId xmlns:a16="http://schemas.microsoft.com/office/drawing/2014/main" id="{D1413A69-E45C-3414-316B-A0AC60C6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4598988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770289B0-1910-8778-1440-44DF72D4F1C8}"/>
                </a:ext>
              </a:extLst>
            </p:cNvPr>
            <p:cNvSpPr/>
            <p:nvPr/>
          </p:nvSpPr>
          <p:spPr>
            <a:xfrm>
              <a:off x="3108325" y="4581525"/>
              <a:ext cx="1628775" cy="22860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④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valide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 →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sauvegardé</a:t>
              </a:r>
              <a:endParaRPr lang="en-US" sz="1200" dirty="0" err="1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36322A46-559F-85BA-62AE-DE0F4FEB14A4}"/>
              </a:ext>
            </a:extLst>
          </p:cNvPr>
          <p:cNvGrpSpPr/>
          <p:nvPr/>
        </p:nvGrpSpPr>
        <p:grpSpPr>
          <a:xfrm>
            <a:off x="3005347" y="4579127"/>
            <a:ext cx="2572828" cy="482061"/>
            <a:chOff x="2908300" y="3525601"/>
            <a:chExt cx="1900487" cy="594941"/>
          </a:xfrm>
        </p:grpSpPr>
        <p:sp>
          <p:nvSpPr>
            <p:cNvPr id="15375" name="Shape 12">
              <a:extLst>
                <a:ext uri="{FF2B5EF4-FFF2-40B4-BE49-F238E27FC236}">
                  <a16:creationId xmlns:a16="http://schemas.microsoft.com/office/drawing/2014/main" id="{A37CDE75-934A-BB0D-819E-884677446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584575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FDCF3ED-5F2A-88CD-4224-D901215FD26D}"/>
                </a:ext>
              </a:extLst>
            </p:cNvPr>
            <p:cNvSpPr/>
            <p:nvPr/>
          </p:nvSpPr>
          <p:spPr>
            <a:xfrm>
              <a:off x="3108325" y="3525601"/>
              <a:ext cx="1700462" cy="295140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①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Utilisateur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modifie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un champ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  <p:sp>
          <p:nvSpPr>
            <p:cNvPr id="15377" name="Shape 14">
              <a:extLst>
                <a:ext uri="{FF2B5EF4-FFF2-40B4-BE49-F238E27FC236}">
                  <a16:creationId xmlns:a16="http://schemas.microsoft.com/office/drawing/2014/main" id="{421F180E-73E2-6097-6146-0B73D983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3922713"/>
              <a:ext cx="146050" cy="146050"/>
            </a:xfrm>
            <a:prstGeom prst="ellipse">
              <a:avLst/>
            </a:prstGeom>
            <a:solidFill>
              <a:srgbClr val="2929CC"/>
            </a:solidFill>
            <a:ln w="12700">
              <a:solidFill>
                <a:srgbClr val="2929CC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2B6B8651-9D92-DF9B-1183-0A43E249DC9E}"/>
                </a:ext>
              </a:extLst>
            </p:cNvPr>
            <p:cNvSpPr/>
            <p:nvPr/>
          </p:nvSpPr>
          <p:spPr>
            <a:xfrm>
              <a:off x="3108325" y="3838710"/>
              <a:ext cx="1700462" cy="281832"/>
            </a:xfrm>
            <a:prstGeom prst="rect">
              <a:avLst/>
            </a:prstGeom>
            <a:noFill/>
            <a:ln/>
          </p:spPr>
          <p:txBody>
            <a:bodyPr lIns="91440" tIns="45720" rIns="91440" bIns="4572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②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Analyse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du </a:t>
              </a:r>
              <a:r>
                <a:rPr lang="en-US" sz="1200" dirty="0" err="1">
                  <a:solidFill>
                    <a:srgbClr val="111827"/>
                  </a:solidFill>
                  <a:latin typeface="+mn-lt"/>
                </a:rPr>
                <a:t>contenu</a:t>
              </a:r>
              <a:r>
                <a:rPr lang="en-US" sz="1200" dirty="0">
                  <a:solidFill>
                    <a:srgbClr val="111827"/>
                  </a:solidFill>
                  <a:latin typeface="+mn-lt"/>
                </a:rPr>
                <a:t> (XSS/SQL)</a:t>
              </a:r>
              <a:endParaRPr lang="en-US" sz="1200" dirty="0">
                <a:solidFill>
                  <a:srgbClr val="111827"/>
                </a:solidFill>
                <a:latin typeface="+mn-l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024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26F93C13-AF50-014C-EAB4-CFFD74CC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4589C0F7-884D-2634-3C2B-EF48A3A6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404EDBD8-403C-0297-B748-1EED9A4E1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FC1030-A25E-8BBD-7727-11F15C48C442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4780D9-4F72-0D70-49CE-CC29D65FDF7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3AB2F9DB-5E56-A72A-705F-5047F79B8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D48B1B36-2E37-4D48-5016-AF36ED5D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AD373AE8-6DA2-8FAC-6E43-47BC7BEDF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8893A2BA-75B5-3622-C11C-A8E978C6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B4D7EABF-C6ED-E6FD-9D3A-CFF36034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preencoded.png">
            <a:extLst>
              <a:ext uri="{FF2B5EF4-FFF2-40B4-BE49-F238E27FC236}">
                <a16:creationId xmlns:a16="http://schemas.microsoft.com/office/drawing/2014/main" id="{558CBAE2-58F8-D1CE-19E8-330D1FBA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60106"/>
            <a:ext cx="6310881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C6A41313-7E9E-4FFB-16C0-8B7A9CDD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3E287FB5-6255-8CC5-4D50-1D89D01D4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Montre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toutes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décisions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lors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connexion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email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Mot de passe correct ? OTP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expiré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</a:t>
            </a:r>
            <a:endParaRPr lang="en-US" altLang="en-US" sz="1200">
              <a:latin typeface="Calibri"/>
              <a:ea typeface="Calibri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2BFA256-9AD2-DE7D-EB02-68EA12C0E9C4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16253728-9936-2D55-43A0-B68406AA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6461D7D9-4E60-B768-FD73-C4FEFFA2E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 dirty="0" err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Authentification</a:t>
              </a:r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 OTP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D22BF-B3DF-6752-9794-D249703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69C785F9-4FEE-5FB0-7EEC-93B279C2E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FFB0AC0E-248D-49D5-9CC1-7EA9A3D4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CAC7F00C-C9C5-48E5-CDA7-747B154C1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C67A53-691C-8F0A-6A70-B8374BBC8059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DA6285-553F-2F38-B87C-9539F08B5F61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DFBE35E8-F23E-5998-D5B7-27963CE3D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21EAF3BC-27C4-B9CD-CF09-E5867642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48F7136E-8C63-0166-0AE3-F4A30F351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762D1E02-6C5C-F657-057B-062232DC7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E39CAE40-B547-710D-B0B7-DC3A686D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Une image contenant texte, diagramme, Dessin technique, Plan&#10;&#10;Le contenu généré par l’IA peut être incorrect.">
            <a:extLst>
              <a:ext uri="{FF2B5EF4-FFF2-40B4-BE49-F238E27FC236}">
                <a16:creationId xmlns:a16="http://schemas.microsoft.com/office/drawing/2014/main" id="{C2392B73-20BC-60E1-9D2F-82B14344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7274" y="460106"/>
            <a:ext cx="6411400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B29FFFEF-EB09-FDA5-F230-1FDAA8F3E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F33CD986-5ED0-D39D-9CD9-02F7E4D51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L'admin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décide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faux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positif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 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Bloquer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l'IP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Clôturer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Poursuivre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l'investigation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0D0716D-661C-4540-9936-E33A4AA75CC0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40C145F5-EA27-2832-0CCB-C813261D8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04F9F48A-D0A8-7E8B-048D-C5334D451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Incident SOC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884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08DB0-645F-632E-939F-2D1AB46D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>
            <a:extLst>
              <a:ext uri="{FF2B5EF4-FFF2-40B4-BE49-F238E27FC236}">
                <a16:creationId xmlns:a16="http://schemas.microsoft.com/office/drawing/2014/main" id="{4BEFE303-42BE-047B-BEA9-699286879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1" name="Shape 1">
            <a:extLst>
              <a:ext uri="{FF2B5EF4-FFF2-40B4-BE49-F238E27FC236}">
                <a16:creationId xmlns:a16="http://schemas.microsoft.com/office/drawing/2014/main" id="{EFAE3646-6F38-EBA8-005B-A43F4B296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2" name="Shape 2">
            <a:extLst>
              <a:ext uri="{FF2B5EF4-FFF2-40B4-BE49-F238E27FC236}">
                <a16:creationId xmlns:a16="http://schemas.microsoft.com/office/drawing/2014/main" id="{4EBC7B0C-2098-715F-84B7-1A605476C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33FD85-B868-782F-3272-CA3CDE72202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AD3581-F2D1-9FAF-2303-30B27DBD3DDA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7415" name="Shape 5">
            <a:extLst>
              <a:ext uri="{FF2B5EF4-FFF2-40B4-BE49-F238E27FC236}">
                <a16:creationId xmlns:a16="http://schemas.microsoft.com/office/drawing/2014/main" id="{8F674E7C-C85F-88F0-EB93-AE16D625D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6">
            <a:extLst>
              <a:ext uri="{FF2B5EF4-FFF2-40B4-BE49-F238E27FC236}">
                <a16:creationId xmlns:a16="http://schemas.microsoft.com/office/drawing/2014/main" id="{8C0101C7-2C06-93C8-D21B-A9452781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📐</a:t>
            </a:r>
            <a:endParaRPr lang="en-US" altLang="en-US" sz="2800"/>
          </a:p>
        </p:txBody>
      </p:sp>
      <p:sp>
        <p:nvSpPr>
          <p:cNvPr id="17417" name="Text 7">
            <a:extLst>
              <a:ext uri="{FF2B5EF4-FFF2-40B4-BE49-F238E27FC236}">
                <a16:creationId xmlns:a16="http://schemas.microsoft.com/office/drawing/2014/main" id="{9169E8DA-C4ED-74AF-9718-14B12D33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Conception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UML</a:t>
            </a:r>
            <a:endParaRPr lang="en-US" altLang="en-US" sz="1600"/>
          </a:p>
        </p:txBody>
      </p:sp>
      <p:sp>
        <p:nvSpPr>
          <p:cNvPr id="17418" name="Shape 8">
            <a:extLst>
              <a:ext uri="{FF2B5EF4-FFF2-40B4-BE49-F238E27FC236}">
                <a16:creationId xmlns:a16="http://schemas.microsoft.com/office/drawing/2014/main" id="{C452E6D8-93F1-792D-511C-530FFC5A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Text 9">
            <a:extLst>
              <a:ext uri="{FF2B5EF4-FFF2-40B4-BE49-F238E27FC236}">
                <a16:creationId xmlns:a16="http://schemas.microsoft.com/office/drawing/2014/main" id="{DE5A8E70-E116-8523-1182-52F7B59C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Diagrammes d'Activité — Les prises de décision</a:t>
            </a:r>
            <a:endParaRPr lang="en-US" altLang="en-US" sz="1400"/>
          </a:p>
        </p:txBody>
      </p:sp>
      <p:pic>
        <p:nvPicPr>
          <p:cNvPr id="17420" name="Image 0" descr="Une image contenant texte, diagramme, Parallèle, Police&#10;&#10;Le contenu généré par l’IA peut être incorrect.">
            <a:extLst>
              <a:ext uri="{FF2B5EF4-FFF2-40B4-BE49-F238E27FC236}">
                <a16:creationId xmlns:a16="http://schemas.microsoft.com/office/drawing/2014/main" id="{9F792EB2-5882-D06F-6365-A7094DD3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2629" y="460106"/>
            <a:ext cx="6399122" cy="390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35" name="Shape 22">
            <a:extLst>
              <a:ext uri="{FF2B5EF4-FFF2-40B4-BE49-F238E27FC236}">
                <a16:creationId xmlns:a16="http://schemas.microsoft.com/office/drawing/2014/main" id="{FC783556-2110-AD98-0180-AEAFC754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661170"/>
            <a:ext cx="6034088" cy="480832"/>
          </a:xfrm>
          <a:prstGeom prst="rect">
            <a:avLst/>
          </a:prstGeom>
          <a:solidFill>
            <a:srgbClr val="F0F9FF"/>
          </a:solidFill>
          <a:ln w="1905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4" name="Text 13">
            <a:extLst>
              <a:ext uri="{FF2B5EF4-FFF2-40B4-BE49-F238E27FC236}">
                <a16:creationId xmlns:a16="http://schemas.microsoft.com/office/drawing/2014/main" id="{AAAD09F7-823D-79CE-5EF4-398F498E1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980" y="4662129"/>
            <a:ext cx="5955789" cy="48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La modification est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analysée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alt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Contenu</a:t>
            </a:r>
            <a:r>
              <a:rPr lang="en-US" alt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suspect ? 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alerte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blocage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Contenu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valide</a:t>
            </a:r>
            <a:r>
              <a:rPr lang="en-US" sz="12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? → </a:t>
            </a:r>
            <a:r>
              <a:rPr lang="en-US" sz="12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</a:t>
            </a:r>
            <a:endParaRPr lang="en-US" altLang="en-US" sz="1200" dirty="0" err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276EDC5-B972-A92D-B45B-DA7F87F4B9BC}"/>
              </a:ext>
            </a:extLst>
          </p:cNvPr>
          <p:cNvGrpSpPr/>
          <p:nvPr/>
        </p:nvGrpSpPr>
        <p:grpSpPr>
          <a:xfrm>
            <a:off x="2835275" y="4359994"/>
            <a:ext cx="6310880" cy="264723"/>
            <a:chOff x="2835275" y="3292475"/>
            <a:chExt cx="1965325" cy="200025"/>
          </a:xfrm>
        </p:grpSpPr>
        <p:sp>
          <p:nvSpPr>
            <p:cNvPr id="3" name="Shape 10">
              <a:extLst>
                <a:ext uri="{FF2B5EF4-FFF2-40B4-BE49-F238E27FC236}">
                  <a16:creationId xmlns:a16="http://schemas.microsoft.com/office/drawing/2014/main" id="{322126D7-5267-1F44-BAE2-EB06CCCBE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solidFill>
              <a:srgbClr val="D6D6F8"/>
            </a:solidFill>
            <a:ln w="12700">
              <a:solidFill>
                <a:srgbClr val="D6D6F8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1">
              <a:extLst>
                <a:ext uri="{FF2B5EF4-FFF2-40B4-BE49-F238E27FC236}">
                  <a16:creationId xmlns:a16="http://schemas.microsoft.com/office/drawing/2014/main" id="{209D2141-45F9-A469-C490-872080B8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3292475"/>
              <a:ext cx="1965325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i="1" dirty="0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Modifi</a:t>
              </a:r>
              <a:r>
                <a:rPr lang="en-US" altLang="en-US" sz="1200" i="1">
                  <a:solidFill>
                    <a:srgbClr val="2929CC"/>
                  </a:solidFill>
                  <a:latin typeface="Calibri"/>
                  <a:ea typeface="Calibri"/>
                  <a:cs typeface="Calibri"/>
                </a:rPr>
                <a:t>cation donnée métier</a:t>
              </a:r>
              <a:endParaRPr lang="en-US" altLang="en-US" sz="1200" i="1" dirty="0">
                <a:solidFill>
                  <a:srgbClr val="2929CC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459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30662-C7DB-01AA-DCC7-6DA10AAE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>
            <a:extLst>
              <a:ext uri="{FF2B5EF4-FFF2-40B4-BE49-F238E27FC236}">
                <a16:creationId xmlns:a16="http://schemas.microsoft.com/office/drawing/2014/main" id="{0DEAE00B-8A58-8D2C-D2A3-C6E018F8C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59" name="Shape 1">
            <a:extLst>
              <a:ext uri="{FF2B5EF4-FFF2-40B4-BE49-F238E27FC236}">
                <a16:creationId xmlns:a16="http://schemas.microsoft.com/office/drawing/2014/main" id="{253ADD48-94D9-FC25-0041-2150AE36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Shape 2">
            <a:extLst>
              <a:ext uri="{FF2B5EF4-FFF2-40B4-BE49-F238E27FC236}">
                <a16:creationId xmlns:a16="http://schemas.microsoft.com/office/drawing/2014/main" id="{799CF05E-B908-1D7D-C164-402AD863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94D91D-5AFB-5E0E-1579-58A51FF4BCAC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D35974-68D0-C7A4-6737-FE41684608AE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9463" name="Shape 5">
            <a:extLst>
              <a:ext uri="{FF2B5EF4-FFF2-40B4-BE49-F238E27FC236}">
                <a16:creationId xmlns:a16="http://schemas.microsoft.com/office/drawing/2014/main" id="{9598AE23-1560-F6BA-5CE4-1935EE87A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6">
            <a:extLst>
              <a:ext uri="{FF2B5EF4-FFF2-40B4-BE49-F238E27FC236}">
                <a16:creationId xmlns:a16="http://schemas.microsoft.com/office/drawing/2014/main" id="{3A004364-2CB3-71E7-FDFB-DACB32FD0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19465" name="Text 7">
            <a:extLst>
              <a:ext uri="{FF2B5EF4-FFF2-40B4-BE49-F238E27FC236}">
                <a16:creationId xmlns:a16="http://schemas.microsoft.com/office/drawing/2014/main" id="{EEFF2B72-884C-2184-6F60-E177F8E03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19466" name="Shape 8">
            <a:extLst>
              <a:ext uri="{FF2B5EF4-FFF2-40B4-BE49-F238E27FC236}">
                <a16:creationId xmlns:a16="http://schemas.microsoft.com/office/drawing/2014/main" id="{F6FBF09E-3E6B-643F-3815-F43C6276F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9">
            <a:extLst>
              <a:ext uri="{FF2B5EF4-FFF2-40B4-BE49-F238E27FC236}">
                <a16:creationId xmlns:a16="http://schemas.microsoft.com/office/drawing/2014/main" id="{2398BDB7-FAEE-8195-30EC-18E1899BB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 dirty="0" err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Authentification</a:t>
            </a:r>
            <a:r>
              <a:rPr lang="en-US" altLang="en-US" sz="1500" b="1" dirty="0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en-US" sz="1500" b="1">
                <a:solidFill>
                  <a:srgbClr val="2929CC"/>
                </a:solidFill>
                <a:latin typeface="Calibri"/>
                <a:ea typeface="Calibri"/>
                <a:cs typeface="Calibri"/>
              </a:rPr>
              <a:t>renforcée par OTP</a:t>
            </a:r>
            <a:endParaRPr lang="en-US" altLang="en-US" sz="1500" b="1">
              <a:solidFill>
                <a:srgbClr val="2929CC"/>
              </a:solidFill>
              <a:ea typeface="Calibri"/>
              <a:cs typeface="Calibri"/>
            </a:endParaRPr>
          </a:p>
        </p:txBody>
      </p:sp>
      <p:pic>
        <p:nvPicPr>
          <p:cNvPr id="19468" name="Image 0" descr="preencoded.png">
            <a:extLst>
              <a:ext uri="{FF2B5EF4-FFF2-40B4-BE49-F238E27FC236}">
                <a16:creationId xmlns:a16="http://schemas.microsoft.com/office/drawing/2014/main" id="{BF174550-2FC9-17B5-A43B-8FBD5B363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9" name="Shape 10">
            <a:extLst>
              <a:ext uri="{FF2B5EF4-FFF2-40B4-BE49-F238E27FC236}">
                <a16:creationId xmlns:a16="http://schemas.microsoft.com/office/drawing/2014/main" id="{86DD2D6C-FAD0-E365-FFF7-B45F2820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11">
            <a:extLst>
              <a:ext uri="{FF2B5EF4-FFF2-40B4-BE49-F238E27FC236}">
                <a16:creationId xmlns:a16="http://schemas.microsoft.com/office/drawing/2014/main" id="{21853CDC-A9A1-D55A-A30F-D4AF865E7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Compteurs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BF5549B-037E-7DFF-1191-0A805AAD9646}"/>
              </a:ext>
            </a:extLst>
          </p:cNvPr>
          <p:cNvSpPr/>
          <p:nvPr/>
        </p:nvSpPr>
        <p:spPr>
          <a:xfrm>
            <a:off x="2835275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Incidents, critiques, IPs bloquées, en investigation</a:t>
            </a:r>
            <a:endParaRPr lang="en-US" sz="850" dirty="0">
              <a:latin typeface="+mn-lt"/>
            </a:endParaRPr>
          </a:p>
        </p:txBody>
      </p:sp>
      <p:sp>
        <p:nvSpPr>
          <p:cNvPr id="19472" name="Shape 13">
            <a:extLst>
              <a:ext uri="{FF2B5EF4-FFF2-40B4-BE49-F238E27FC236}">
                <a16:creationId xmlns:a16="http://schemas.microsoft.com/office/drawing/2014/main" id="{272B5C19-B603-70FD-FFD3-867C12785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Text 14">
            <a:extLst>
              <a:ext uri="{FF2B5EF4-FFF2-40B4-BE49-F238E27FC236}">
                <a16:creationId xmlns:a16="http://schemas.microsoft.com/office/drawing/2014/main" id="{B02DA5D7-175B-20C4-7C2A-EAB42A8F9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Accès rapides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CEC6B18-EC85-4BDE-D6D7-F7FA8982CA92}"/>
              </a:ext>
            </a:extLst>
          </p:cNvPr>
          <p:cNvSpPr/>
          <p:nvPr/>
        </p:nvSpPr>
        <p:spPr>
          <a:xfrm>
            <a:off x="4864100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Navigation vers Alertes, Incidents, Simulations</a:t>
            </a:r>
            <a:endParaRPr lang="en-US" sz="850" dirty="0">
              <a:latin typeface="+mn-lt"/>
            </a:endParaRPr>
          </a:p>
        </p:txBody>
      </p:sp>
      <p:sp>
        <p:nvSpPr>
          <p:cNvPr id="19475" name="Shape 16">
            <a:extLst>
              <a:ext uri="{FF2B5EF4-FFF2-40B4-BE49-F238E27FC236}">
                <a16:creationId xmlns:a16="http://schemas.microsoft.com/office/drawing/2014/main" id="{27D8D48A-393A-CE76-31AD-02DE0514B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Text 17">
            <a:extLst>
              <a:ext uri="{FF2B5EF4-FFF2-40B4-BE49-F238E27FC236}">
                <a16:creationId xmlns:a16="http://schemas.microsoft.com/office/drawing/2014/main" id="{245B32B2-1DF2-A2A6-3DB6-FDF48DD20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Alertes live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FE1F73F-F8D6-6DF8-B8C4-CD95077E0B32}"/>
              </a:ext>
            </a:extLst>
          </p:cNvPr>
          <p:cNvSpPr/>
          <p:nvPr/>
        </p:nvSpPr>
        <p:spPr>
          <a:xfrm>
            <a:off x="6894513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Nouvelles alertes non lues affichées en temps réel</a:t>
            </a:r>
            <a:endParaRPr lang="en-US" sz="850" dirty="0">
              <a:latin typeface="+mn-lt"/>
            </a:endParaRPr>
          </a:p>
        </p:txBody>
      </p:sp>
      <p:pic>
        <p:nvPicPr>
          <p:cNvPr id="19478" name="Image 1" descr="preencoded.png">
            <a:extLst>
              <a:ext uri="{FF2B5EF4-FFF2-40B4-BE49-F238E27FC236}">
                <a16:creationId xmlns:a16="http://schemas.microsoft.com/office/drawing/2014/main" id="{A79A0C43-FDA6-0D72-C36A-921042F22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3017838"/>
            <a:ext cx="60340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Shape 19">
            <a:extLst>
              <a:ext uri="{FF2B5EF4-FFF2-40B4-BE49-F238E27FC236}">
                <a16:creationId xmlns:a16="http://schemas.microsoft.com/office/drawing/2014/main" id="{FEB36B26-F35E-CF65-9AB6-BD65320E4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Text 20">
            <a:extLst>
              <a:ext uri="{FF2B5EF4-FFF2-40B4-BE49-F238E27FC236}">
                <a16:creationId xmlns:a16="http://schemas.microsoft.com/office/drawing/2014/main" id="{B7DC4202-75FE-FF65-4978-48DA0C1A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📡 Fig.13 — Centre d'alertes : corrélation, acquittement et suivi de chaque événement suspect</a:t>
            </a:r>
            <a:endParaRPr lang="en-US" altLang="en-US" sz="900"/>
          </a:p>
        </p:txBody>
      </p:sp>
    </p:spTree>
    <p:extLst>
      <p:ext uri="{BB962C8B-B14F-4D97-AF65-F5344CB8AC3E}">
        <p14:creationId xmlns:p14="http://schemas.microsoft.com/office/powerpoint/2010/main" val="3338726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>
            <a:extLst>
              <a:ext uri="{FF2B5EF4-FFF2-40B4-BE49-F238E27FC236}">
                <a16:creationId xmlns:a16="http://schemas.microsoft.com/office/drawing/2014/main" id="{992E1AF9-B8F9-7B2D-2303-7104F165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59" name="Shape 1">
            <a:extLst>
              <a:ext uri="{FF2B5EF4-FFF2-40B4-BE49-F238E27FC236}">
                <a16:creationId xmlns:a16="http://schemas.microsoft.com/office/drawing/2014/main" id="{B7737FE4-C750-FEAF-F254-0B500AA1F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Shape 2">
            <a:extLst>
              <a:ext uri="{FF2B5EF4-FFF2-40B4-BE49-F238E27FC236}">
                <a16:creationId xmlns:a16="http://schemas.microsoft.com/office/drawing/2014/main" id="{4E301E45-09FD-3EE7-1F51-ED8E4667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E81AAC-3A56-9459-5E70-1C02C7FE35D6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lIns="91440" tIns="45720" rIns="91440" bIns="4572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53042E-7274-8D85-6FA8-9ABCD08C49F3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19463" name="Shape 5">
            <a:extLst>
              <a:ext uri="{FF2B5EF4-FFF2-40B4-BE49-F238E27FC236}">
                <a16:creationId xmlns:a16="http://schemas.microsoft.com/office/drawing/2014/main" id="{7F973692-E218-ED74-8688-9E3FA54E8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6">
            <a:extLst>
              <a:ext uri="{FF2B5EF4-FFF2-40B4-BE49-F238E27FC236}">
                <a16:creationId xmlns:a16="http://schemas.microsoft.com/office/drawing/2014/main" id="{2BF0A5B5-7933-DA80-A16F-FD822519A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19465" name="Text 7">
            <a:extLst>
              <a:ext uri="{FF2B5EF4-FFF2-40B4-BE49-F238E27FC236}">
                <a16:creationId xmlns:a16="http://schemas.microsoft.com/office/drawing/2014/main" id="{7D370587-B2F4-1EF1-773C-F243167E2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19466" name="Shape 8">
            <a:extLst>
              <a:ext uri="{FF2B5EF4-FFF2-40B4-BE49-F238E27FC236}">
                <a16:creationId xmlns:a16="http://schemas.microsoft.com/office/drawing/2014/main" id="{F9043418-D8FC-68ED-85C4-21259FA47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9">
            <a:extLst>
              <a:ext uri="{FF2B5EF4-FFF2-40B4-BE49-F238E27FC236}">
                <a16:creationId xmlns:a16="http://schemas.microsoft.com/office/drawing/2014/main" id="{F86B9BCE-DD2E-D89A-C608-DBAF6B4E5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Supervision SOC — Vue en temps réel</a:t>
            </a:r>
            <a:endParaRPr lang="en-US" altLang="en-US" sz="1500"/>
          </a:p>
        </p:txBody>
      </p:sp>
      <p:pic>
        <p:nvPicPr>
          <p:cNvPr id="19468" name="Image 0" descr="preencoded.png">
            <a:extLst>
              <a:ext uri="{FF2B5EF4-FFF2-40B4-BE49-F238E27FC236}">
                <a16:creationId xmlns:a16="http://schemas.microsoft.com/office/drawing/2014/main" id="{43A44F86-A635-67DC-E045-7E82BF05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9" name="Shape 10">
            <a:extLst>
              <a:ext uri="{FF2B5EF4-FFF2-40B4-BE49-F238E27FC236}">
                <a16:creationId xmlns:a16="http://schemas.microsoft.com/office/drawing/2014/main" id="{0B24852C-4770-3D10-D586-8F0F9A76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11">
            <a:extLst>
              <a:ext uri="{FF2B5EF4-FFF2-40B4-BE49-F238E27FC236}">
                <a16:creationId xmlns:a16="http://schemas.microsoft.com/office/drawing/2014/main" id="{62FA8A00-32F9-D49D-C3AB-407EA11B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Compteurs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EE94A12-35E2-1AF9-68FA-05F169FA4E72}"/>
              </a:ext>
            </a:extLst>
          </p:cNvPr>
          <p:cNvSpPr/>
          <p:nvPr/>
        </p:nvSpPr>
        <p:spPr>
          <a:xfrm>
            <a:off x="2835275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Incidents, critiques, IPs bloquées, en investigation</a:t>
            </a:r>
            <a:endParaRPr lang="en-US" sz="850" dirty="0">
              <a:latin typeface="+mn-lt"/>
            </a:endParaRPr>
          </a:p>
        </p:txBody>
      </p:sp>
      <p:sp>
        <p:nvSpPr>
          <p:cNvPr id="19472" name="Shape 13">
            <a:extLst>
              <a:ext uri="{FF2B5EF4-FFF2-40B4-BE49-F238E27FC236}">
                <a16:creationId xmlns:a16="http://schemas.microsoft.com/office/drawing/2014/main" id="{3C1B9F7C-9EAB-FE60-F756-03B14B3A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Text 14">
            <a:extLst>
              <a:ext uri="{FF2B5EF4-FFF2-40B4-BE49-F238E27FC236}">
                <a16:creationId xmlns:a16="http://schemas.microsoft.com/office/drawing/2014/main" id="{6469BE05-C4E1-4134-3228-465950F59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Accès rapides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66B0908-619D-8DCC-B6D8-992841AEFD92}"/>
              </a:ext>
            </a:extLst>
          </p:cNvPr>
          <p:cNvSpPr/>
          <p:nvPr/>
        </p:nvSpPr>
        <p:spPr>
          <a:xfrm>
            <a:off x="4864100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Navigation vers Alertes, Incidents, Simulations</a:t>
            </a:r>
            <a:endParaRPr lang="en-US" sz="850" dirty="0">
              <a:latin typeface="+mn-lt"/>
            </a:endParaRPr>
          </a:p>
        </p:txBody>
      </p:sp>
      <p:sp>
        <p:nvSpPr>
          <p:cNvPr id="19475" name="Shape 16">
            <a:extLst>
              <a:ext uri="{FF2B5EF4-FFF2-40B4-BE49-F238E27FC236}">
                <a16:creationId xmlns:a16="http://schemas.microsoft.com/office/drawing/2014/main" id="{39358CDE-4822-AD2D-7C90-398CFB78B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Text 17">
            <a:extLst>
              <a:ext uri="{FF2B5EF4-FFF2-40B4-BE49-F238E27FC236}">
                <a16:creationId xmlns:a16="http://schemas.microsoft.com/office/drawing/2014/main" id="{C4C581A0-89F0-89B0-0E6E-496441473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87613"/>
            <a:ext cx="19018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📌 Alertes live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CC745E0-6A56-6ECB-1C5E-CCD9A6FEC205}"/>
              </a:ext>
            </a:extLst>
          </p:cNvPr>
          <p:cNvSpPr/>
          <p:nvPr/>
        </p:nvSpPr>
        <p:spPr>
          <a:xfrm>
            <a:off x="6894513" y="2687638"/>
            <a:ext cx="1901825" cy="274637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Nouvelles alertes non lues affichées en temps réel</a:t>
            </a:r>
            <a:endParaRPr lang="en-US" sz="850" dirty="0">
              <a:latin typeface="+mn-lt"/>
            </a:endParaRPr>
          </a:p>
        </p:txBody>
      </p:sp>
      <p:pic>
        <p:nvPicPr>
          <p:cNvPr id="19478" name="Image 1" descr="preencoded.png">
            <a:extLst>
              <a:ext uri="{FF2B5EF4-FFF2-40B4-BE49-F238E27FC236}">
                <a16:creationId xmlns:a16="http://schemas.microsoft.com/office/drawing/2014/main" id="{3F136BDA-A3B6-B76A-2EEC-0F465ABD6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3017838"/>
            <a:ext cx="603408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Shape 19">
            <a:extLst>
              <a:ext uri="{FF2B5EF4-FFF2-40B4-BE49-F238E27FC236}">
                <a16:creationId xmlns:a16="http://schemas.microsoft.com/office/drawing/2014/main" id="{A5A94183-AACB-5024-E457-A006CDDC9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Text 20">
            <a:extLst>
              <a:ext uri="{FF2B5EF4-FFF2-40B4-BE49-F238E27FC236}">
                <a16:creationId xmlns:a16="http://schemas.microsoft.com/office/drawing/2014/main" id="{5867235C-3BFA-552A-85E6-FEF38632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73613"/>
            <a:ext cx="60340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📡 Fig.13 — Centre d'alertes : corrélation, acquittement et suivi de chaque événement suspect</a:t>
            </a:r>
            <a:endParaRPr lang="en-US" alt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hape 0">
            <a:extLst>
              <a:ext uri="{FF2B5EF4-FFF2-40B4-BE49-F238E27FC236}">
                <a16:creationId xmlns:a16="http://schemas.microsoft.com/office/drawing/2014/main" id="{E2DAD69B-F54A-1124-DB25-337323C6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7" name="Shape 1">
            <a:extLst>
              <a:ext uri="{FF2B5EF4-FFF2-40B4-BE49-F238E27FC236}">
                <a16:creationId xmlns:a16="http://schemas.microsoft.com/office/drawing/2014/main" id="{4FE5B30E-89EC-95F8-329B-B5AB0C04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8" name="Shape 2">
            <a:extLst>
              <a:ext uri="{FF2B5EF4-FFF2-40B4-BE49-F238E27FC236}">
                <a16:creationId xmlns:a16="http://schemas.microsoft.com/office/drawing/2014/main" id="{DE43C92D-9FB3-8445-E8AB-6C4BBB85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29E215-16D9-3781-4DAF-98085252DC0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7997B6-62AD-4122-3694-AB58D22D47E8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1511" name="Shape 5">
            <a:extLst>
              <a:ext uri="{FF2B5EF4-FFF2-40B4-BE49-F238E27FC236}">
                <a16:creationId xmlns:a16="http://schemas.microsoft.com/office/drawing/2014/main" id="{7FDC9F59-3EB3-3E77-4CCE-9C67D0B78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2" name="Text 6">
            <a:extLst>
              <a:ext uri="{FF2B5EF4-FFF2-40B4-BE49-F238E27FC236}">
                <a16:creationId xmlns:a16="http://schemas.microsoft.com/office/drawing/2014/main" id="{8F29D599-A402-C971-1FDC-05836D715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21513" name="Text 7">
            <a:extLst>
              <a:ext uri="{FF2B5EF4-FFF2-40B4-BE49-F238E27FC236}">
                <a16:creationId xmlns:a16="http://schemas.microsoft.com/office/drawing/2014/main" id="{3D419411-1A7D-51E6-ADBE-265C49A65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21514" name="Shape 8">
            <a:extLst>
              <a:ext uri="{FF2B5EF4-FFF2-40B4-BE49-F238E27FC236}">
                <a16:creationId xmlns:a16="http://schemas.microsoft.com/office/drawing/2014/main" id="{EBE3EDC2-DC9D-D6F0-86B5-7EAC64EDF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5" name="Text 9">
            <a:extLst>
              <a:ext uri="{FF2B5EF4-FFF2-40B4-BE49-F238E27FC236}">
                <a16:creationId xmlns:a16="http://schemas.microsoft.com/office/drawing/2014/main" id="{92EFA39C-1AF6-8BF5-F31A-77115EF16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Gestion des Incidents &amp; Application Métier</a:t>
            </a:r>
            <a:endParaRPr lang="en-US" altLang="en-US" sz="1500"/>
          </a:p>
        </p:txBody>
      </p:sp>
      <p:pic>
        <p:nvPicPr>
          <p:cNvPr id="21516" name="Image 0" descr="preencoded.png">
            <a:extLst>
              <a:ext uri="{FF2B5EF4-FFF2-40B4-BE49-F238E27FC236}">
                <a16:creationId xmlns:a16="http://schemas.microsoft.com/office/drawing/2014/main" id="{AB325BBF-7107-C070-2786-3B9C2EA10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Shape 10">
            <a:extLst>
              <a:ext uri="{FF2B5EF4-FFF2-40B4-BE49-F238E27FC236}">
                <a16:creationId xmlns:a16="http://schemas.microsoft.com/office/drawing/2014/main" id="{DF971988-AAD8-975A-C073-98A68C17F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41575"/>
            <a:ext cx="1901825" cy="20161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8" name="Text 11">
            <a:extLst>
              <a:ext uri="{FF2B5EF4-FFF2-40B4-BE49-F238E27FC236}">
                <a16:creationId xmlns:a16="http://schemas.microsoft.com/office/drawing/2014/main" id="{2147BCBF-0A57-724C-5A26-3FC09C0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🔎 Filtres</a:t>
            </a:r>
            <a:endParaRPr lang="en-US" alt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D6F9CC8-EBC5-984E-04A5-B3101C60BECB}"/>
              </a:ext>
            </a:extLst>
          </p:cNvPr>
          <p:cNvSpPr/>
          <p:nvPr/>
        </p:nvSpPr>
        <p:spPr>
          <a:xfrm>
            <a:off x="2835275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Par sévérité, type d'attaque, statut, IP source</a:t>
            </a:r>
            <a:endParaRPr lang="en-US" sz="850" dirty="0">
              <a:latin typeface="+mn-lt"/>
            </a:endParaRPr>
          </a:p>
        </p:txBody>
      </p:sp>
      <p:sp>
        <p:nvSpPr>
          <p:cNvPr id="21520" name="Shape 13">
            <a:extLst>
              <a:ext uri="{FF2B5EF4-FFF2-40B4-BE49-F238E27FC236}">
                <a16:creationId xmlns:a16="http://schemas.microsoft.com/office/drawing/2014/main" id="{D2F454DF-2E2C-52A7-6D96-5E4C1A25C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41575"/>
            <a:ext cx="1901825" cy="2016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1" name="Text 14">
            <a:extLst>
              <a:ext uri="{FF2B5EF4-FFF2-40B4-BE49-F238E27FC236}">
                <a16:creationId xmlns:a16="http://schemas.microsoft.com/office/drawing/2014/main" id="{52AE28D9-9695-CCE0-9142-9370340B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📋 Liste</a:t>
            </a:r>
            <a:endParaRPr lang="en-US" altLang="en-US" sz="9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829DEB4-8D38-ED27-ABA4-74CF7976989C}"/>
              </a:ext>
            </a:extLst>
          </p:cNvPr>
          <p:cNvSpPr/>
          <p:nvPr/>
        </p:nvSpPr>
        <p:spPr>
          <a:xfrm>
            <a:off x="4864100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Chaque attaque cliquable pour voir les détails</a:t>
            </a:r>
            <a:endParaRPr lang="en-US" sz="850" dirty="0">
              <a:latin typeface="+mn-lt"/>
            </a:endParaRPr>
          </a:p>
        </p:txBody>
      </p:sp>
      <p:sp>
        <p:nvSpPr>
          <p:cNvPr id="21523" name="Shape 16">
            <a:extLst>
              <a:ext uri="{FF2B5EF4-FFF2-40B4-BE49-F238E27FC236}">
                <a16:creationId xmlns:a16="http://schemas.microsoft.com/office/drawing/2014/main" id="{63E9D001-66B0-2739-0EF6-67B035448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41575"/>
            <a:ext cx="1901825" cy="20161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4" name="Text 17">
            <a:extLst>
              <a:ext uri="{FF2B5EF4-FFF2-40B4-BE49-F238E27FC236}">
                <a16:creationId xmlns:a16="http://schemas.microsoft.com/office/drawing/2014/main" id="{0D7BA951-F12B-622D-FB5F-F4632C4E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441575"/>
            <a:ext cx="19018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🚫 Bloquer</a:t>
            </a:r>
            <a:endParaRPr lang="en-US" altLang="en-US" sz="9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2A3043F-21BE-9A4C-84F5-A6B8AED4594A}"/>
              </a:ext>
            </a:extLst>
          </p:cNvPr>
          <p:cNvSpPr/>
          <p:nvPr/>
        </p:nvSpPr>
        <p:spPr>
          <a:xfrm>
            <a:off x="6894513" y="2651125"/>
            <a:ext cx="1901825" cy="274638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dirty="0">
                <a:solidFill>
                  <a:srgbClr val="6B7280"/>
                </a:solidFill>
                <a:latin typeface="+mn-lt"/>
              </a:rPr>
              <a:t>Bloquer l'IP en 1 clic depuis la fiche incident</a:t>
            </a:r>
            <a:endParaRPr lang="en-US" sz="850" dirty="0">
              <a:latin typeface="+mn-lt"/>
            </a:endParaRPr>
          </a:p>
        </p:txBody>
      </p:sp>
      <p:pic>
        <p:nvPicPr>
          <p:cNvPr id="21526" name="Image 1" descr="preencoded.png">
            <a:extLst>
              <a:ext uri="{FF2B5EF4-FFF2-40B4-BE49-F238E27FC236}">
                <a16:creationId xmlns:a16="http://schemas.microsoft.com/office/drawing/2014/main" id="{A40A2C5A-D519-DAC0-5EB1-34E99E14D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981325"/>
            <a:ext cx="29257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7" name="Image 2" descr="preencoded.png">
            <a:extLst>
              <a:ext uri="{FF2B5EF4-FFF2-40B4-BE49-F238E27FC236}">
                <a16:creationId xmlns:a16="http://schemas.microsoft.com/office/drawing/2014/main" id="{5488A4A4-0612-3118-A199-7CBC6A5C8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981325"/>
            <a:ext cx="29257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8" name="Shape 19">
            <a:extLst>
              <a:ext uri="{FF2B5EF4-FFF2-40B4-BE49-F238E27FC236}">
                <a16:creationId xmlns:a16="http://schemas.microsoft.com/office/drawing/2014/main" id="{A4E4079D-59EA-4078-9708-156D181CA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46638"/>
            <a:ext cx="2925763" cy="209550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A61EE41-4B2E-FDBA-4829-4C49ACFC2FCD}"/>
              </a:ext>
            </a:extLst>
          </p:cNvPr>
          <p:cNvSpPr/>
          <p:nvPr/>
        </p:nvSpPr>
        <p:spPr>
          <a:xfrm>
            <a:off x="2835275" y="4846638"/>
            <a:ext cx="2925763" cy="20955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i="1" dirty="0">
                <a:solidFill>
                  <a:srgbClr val="2929CC"/>
                </a:solidFill>
                <a:latin typeface="+mn-lt"/>
              </a:rPr>
              <a:t>Fig.15 — Accueil application métier</a:t>
            </a:r>
            <a:endParaRPr lang="en-US" sz="850" dirty="0">
              <a:latin typeface="+mn-lt"/>
            </a:endParaRPr>
          </a:p>
        </p:txBody>
      </p:sp>
      <p:sp>
        <p:nvSpPr>
          <p:cNvPr id="21530" name="Shape 21">
            <a:extLst>
              <a:ext uri="{FF2B5EF4-FFF2-40B4-BE49-F238E27FC236}">
                <a16:creationId xmlns:a16="http://schemas.microsoft.com/office/drawing/2014/main" id="{D042B866-B1E6-7084-2A41-D2E384708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46638"/>
            <a:ext cx="2925763" cy="209550"/>
          </a:xfrm>
          <a:prstGeom prst="rect">
            <a:avLst/>
          </a:prstGeom>
          <a:solidFill>
            <a:srgbClr val="D6D6F8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10F81C-146D-495F-0072-60CFDF3A34E8}"/>
              </a:ext>
            </a:extLst>
          </p:cNvPr>
          <p:cNvSpPr/>
          <p:nvPr/>
        </p:nvSpPr>
        <p:spPr>
          <a:xfrm>
            <a:off x="5943600" y="4846638"/>
            <a:ext cx="2925763" cy="20955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i="1" dirty="0">
                <a:solidFill>
                  <a:srgbClr val="2929CC"/>
                </a:solidFill>
                <a:latin typeface="+mn-lt"/>
              </a:rPr>
              <a:t>Fig.16 — Liste des usagers (support audit &amp; XSS)</a:t>
            </a:r>
            <a:endParaRPr lang="en-US" sz="85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hape 0">
            <a:extLst>
              <a:ext uri="{FF2B5EF4-FFF2-40B4-BE49-F238E27FC236}">
                <a16:creationId xmlns:a16="http://schemas.microsoft.com/office/drawing/2014/main" id="{268006D3-0591-6E4B-0A2F-5B184701D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5" name="Shape 1">
            <a:extLst>
              <a:ext uri="{FF2B5EF4-FFF2-40B4-BE49-F238E27FC236}">
                <a16:creationId xmlns:a16="http://schemas.microsoft.com/office/drawing/2014/main" id="{EE94FCC4-7061-3D11-00EF-F2DC497CF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Shape 2">
            <a:extLst>
              <a:ext uri="{FF2B5EF4-FFF2-40B4-BE49-F238E27FC236}">
                <a16:creationId xmlns:a16="http://schemas.microsoft.com/office/drawing/2014/main" id="{1127F1F0-A913-A41E-0D26-596939218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4C2887-702B-1F70-7899-D11C243BEC5E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05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368AA2-1145-D014-67A2-F6D8807DEC9C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3559" name="Shape 5">
            <a:extLst>
              <a:ext uri="{FF2B5EF4-FFF2-40B4-BE49-F238E27FC236}">
                <a16:creationId xmlns:a16="http://schemas.microsoft.com/office/drawing/2014/main" id="{8A48D3B3-5015-7C63-1191-261D4200E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Text 6">
            <a:extLst>
              <a:ext uri="{FF2B5EF4-FFF2-40B4-BE49-F238E27FC236}">
                <a16:creationId xmlns:a16="http://schemas.microsoft.com/office/drawing/2014/main" id="{DB67B87C-9E9C-5F81-1D58-FCD425EED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💻</a:t>
            </a:r>
            <a:endParaRPr lang="en-US" altLang="en-US" sz="2800"/>
          </a:p>
        </p:txBody>
      </p:sp>
      <p:sp>
        <p:nvSpPr>
          <p:cNvPr id="23561" name="Text 7">
            <a:extLst>
              <a:ext uri="{FF2B5EF4-FFF2-40B4-BE49-F238E27FC236}">
                <a16:creationId xmlns:a16="http://schemas.microsoft.com/office/drawing/2014/main" id="{0B3856AC-ACAD-B2C5-AD75-FC9BF9EA6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Implémentation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&amp; Interface</a:t>
            </a:r>
            <a:endParaRPr lang="en-US" altLang="en-US" sz="1600"/>
          </a:p>
        </p:txBody>
      </p:sp>
      <p:sp>
        <p:nvSpPr>
          <p:cNvPr id="23562" name="Shape 8">
            <a:extLst>
              <a:ext uri="{FF2B5EF4-FFF2-40B4-BE49-F238E27FC236}">
                <a16:creationId xmlns:a16="http://schemas.microsoft.com/office/drawing/2014/main" id="{DF1736E1-C653-74A3-76FA-B62FC156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Text 9">
            <a:extLst>
              <a:ext uri="{FF2B5EF4-FFF2-40B4-BE49-F238E27FC236}">
                <a16:creationId xmlns:a16="http://schemas.microsoft.com/office/drawing/2014/main" id="{C3620DA8-A77D-EDE2-D136-472E2350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2929CC"/>
                </a:solidFill>
              </a:rPr>
              <a:t>Application Métier — Terrain de démonstration des attaques</a:t>
            </a:r>
            <a:endParaRPr lang="en-US" altLang="en-US" sz="1400"/>
          </a:p>
        </p:txBody>
      </p:sp>
      <p:pic>
        <p:nvPicPr>
          <p:cNvPr id="23564" name="Image 0" descr="preencoded.png">
            <a:extLst>
              <a:ext uri="{FF2B5EF4-FFF2-40B4-BE49-F238E27FC236}">
                <a16:creationId xmlns:a16="http://schemas.microsoft.com/office/drawing/2014/main" id="{B0407316-95E9-0915-F8F9-C25736576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503238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5" name="Shape 10">
            <a:extLst>
              <a:ext uri="{FF2B5EF4-FFF2-40B4-BE49-F238E27FC236}">
                <a16:creationId xmlns:a16="http://schemas.microsoft.com/office/drawing/2014/main" id="{CE389F9F-8828-934A-439D-528F83C1B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6034088" cy="20002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Text 11">
            <a:extLst>
              <a:ext uri="{FF2B5EF4-FFF2-40B4-BE49-F238E27FC236}">
                <a16:creationId xmlns:a16="http://schemas.microsoft.com/office/drawing/2014/main" id="{BE85F37F-23E6-A3DB-3121-E6FB21218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2487613"/>
            <a:ext cx="603408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⚡ Fig.17 — Catalogue Services : les descriptions servent de cible pour les injections SQL</a:t>
            </a:r>
            <a:endParaRPr lang="en-US" altLang="en-US" sz="900"/>
          </a:p>
        </p:txBody>
      </p:sp>
      <p:pic>
        <p:nvPicPr>
          <p:cNvPr id="23567" name="Image 1" descr="preencoded.png">
            <a:extLst>
              <a:ext uri="{FF2B5EF4-FFF2-40B4-BE49-F238E27FC236}">
                <a16:creationId xmlns:a16="http://schemas.microsoft.com/office/drawing/2014/main" id="{25A423A8-812E-E97C-AB6A-DD17BB750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3200"/>
            <a:ext cx="6034088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8" name="Shape 12">
            <a:extLst>
              <a:ext uri="{FF2B5EF4-FFF2-40B4-BE49-F238E27FC236}">
                <a16:creationId xmlns:a16="http://schemas.microsoft.com/office/drawing/2014/main" id="{A855D087-4E0B-1ABF-B8CB-7267F77B6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27575"/>
            <a:ext cx="6034088" cy="20161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9" name="Text 13">
            <a:extLst>
              <a:ext uri="{FF2B5EF4-FFF2-40B4-BE49-F238E27FC236}">
                <a16:creationId xmlns:a16="http://schemas.microsoft.com/office/drawing/2014/main" id="{C1592F6D-AEF1-A928-4ECE-BDF2331F4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727575"/>
            <a:ext cx="6034088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b="1">
                <a:solidFill>
                  <a:srgbClr val="FFFFFF"/>
                </a:solidFill>
              </a:rPr>
              <a:t>⚡ Fig.18 — Messagerie interne : le contenu libre déclenche la détection XSS en temps réel</a:t>
            </a:r>
            <a:endParaRPr lang="en-US" altLang="en-US" sz="900"/>
          </a:p>
        </p:txBody>
      </p:sp>
      <p:sp>
        <p:nvSpPr>
          <p:cNvPr id="23570" name="Shape 14">
            <a:extLst>
              <a:ext uri="{FF2B5EF4-FFF2-40B4-BE49-F238E27FC236}">
                <a16:creationId xmlns:a16="http://schemas.microsoft.com/office/drawing/2014/main" id="{6F542CFC-C8E4-528D-2556-9FB105C04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956175"/>
            <a:ext cx="6034088" cy="182563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Text 15">
            <a:extLst>
              <a:ext uri="{FF2B5EF4-FFF2-40B4-BE49-F238E27FC236}">
                <a16:creationId xmlns:a16="http://schemas.microsoft.com/office/drawing/2014/main" id="{86662805-1AE5-6B29-D8FB-A0276E377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5002213"/>
            <a:ext cx="5815012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 b="1">
                <a:solidFill>
                  <a:srgbClr val="F97316"/>
                </a:solidFill>
              </a:rPr>
              <a:t>💡 Exemple  </a:t>
            </a:r>
            <a:r>
              <a:rPr lang="en-US" altLang="en-US" sz="1000">
                <a:solidFill>
                  <a:srgbClr val="78350F"/>
                </a:solidFill>
              </a:rPr>
              <a:t>Taper &lt;script&gt;alert('xss')&lt;/script&gt; dans un message → alerte SOC créée immédiatement et action bloquée.</a:t>
            </a:r>
            <a:endParaRPr lang="en-US" alt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hape 0">
            <a:extLst>
              <a:ext uri="{FF2B5EF4-FFF2-40B4-BE49-F238E27FC236}">
                <a16:creationId xmlns:a16="http://schemas.microsoft.com/office/drawing/2014/main" id="{ECA17D63-B895-AE1E-740C-2482CEDA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43200" cy="5143500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3" name="Shape 1">
            <a:extLst>
              <a:ext uri="{FF2B5EF4-FFF2-40B4-BE49-F238E27FC236}">
                <a16:creationId xmlns:a16="http://schemas.microsoft.com/office/drawing/2014/main" id="{8F6A05B1-A8AA-B8EE-43EB-F7EB3ACE1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22325" y="-822325"/>
            <a:ext cx="2559050" cy="2559050"/>
          </a:xfrm>
          <a:prstGeom prst="ellipse">
            <a:avLst/>
          </a:prstGeom>
          <a:solidFill>
            <a:srgbClr val="FFFFFF">
              <a:alpha val="12157"/>
            </a:srgbClr>
          </a:solidFill>
          <a:ln w="12700">
            <a:solidFill>
              <a:srgbClr val="FFFFFF">
                <a:alpha val="1215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4" name="Shape 2">
            <a:extLst>
              <a:ext uri="{FF2B5EF4-FFF2-40B4-BE49-F238E27FC236}">
                <a16:creationId xmlns:a16="http://schemas.microsoft.com/office/drawing/2014/main" id="{A67FD914-DD32-871A-4F40-90D46C48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292475"/>
            <a:ext cx="1279525" cy="1279525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>
            <a:solidFill>
              <a:srgbClr val="FFFFFF">
                <a:alpha val="1803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0F6AE0-651E-5FD9-8300-4A2CBF45D05D}"/>
              </a:ext>
            </a:extLst>
          </p:cNvPr>
          <p:cNvSpPr/>
          <p:nvPr/>
        </p:nvSpPr>
        <p:spPr>
          <a:xfrm>
            <a:off x="0" y="457200"/>
            <a:ext cx="2743200" cy="1280160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+mn-lt"/>
              </a:rPr>
              <a:t>06</a:t>
            </a:r>
            <a:endParaRPr lang="en-US" sz="7000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521F6A-D5CB-6DEB-6F0C-98CA83D3AA74}"/>
              </a:ext>
            </a:extLst>
          </p:cNvPr>
          <p:cNvSpPr/>
          <p:nvPr/>
        </p:nvSpPr>
        <p:spPr>
          <a:xfrm>
            <a:off x="0" y="1736725"/>
            <a:ext cx="2743200" cy="320675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kern="0" spc="500" dirty="0">
                <a:solidFill>
                  <a:srgbClr val="FFFFFF"/>
                </a:solidFill>
                <a:latin typeface="+mn-lt"/>
              </a:rPr>
              <a:t>SECTION</a:t>
            </a:r>
            <a:endParaRPr lang="en-US" sz="900" dirty="0">
              <a:latin typeface="+mn-lt"/>
            </a:endParaRPr>
          </a:p>
        </p:txBody>
      </p:sp>
      <p:sp>
        <p:nvSpPr>
          <p:cNvPr id="25607" name="Shape 5">
            <a:extLst>
              <a:ext uri="{FF2B5EF4-FFF2-40B4-BE49-F238E27FC236}">
                <a16:creationId xmlns:a16="http://schemas.microsoft.com/office/drawing/2014/main" id="{9F28B529-5BE0-7439-942F-A5CADFA53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49475"/>
            <a:ext cx="822325" cy="822325"/>
          </a:xfrm>
          <a:prstGeom prst="ellipse">
            <a:avLst/>
          </a:prstGeom>
          <a:solidFill>
            <a:srgbClr val="FFFFFF">
              <a:alpha val="79999"/>
            </a:srgbClr>
          </a:solidFill>
          <a:ln w="12700">
            <a:solidFill>
              <a:srgbClr val="FFFFFF">
                <a:alpha val="5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8" name="Text 6">
            <a:extLst>
              <a:ext uri="{FF2B5EF4-FFF2-40B4-BE49-F238E27FC236}">
                <a16:creationId xmlns:a16="http://schemas.microsoft.com/office/drawing/2014/main" id="{BC4AA75A-54D4-639A-0108-8E58917A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494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>
                <a:solidFill>
                  <a:srgbClr val="000000"/>
                </a:solidFill>
              </a:rPr>
              <a:t>✅</a:t>
            </a:r>
            <a:endParaRPr lang="en-US" altLang="en-US" sz="2800"/>
          </a:p>
        </p:txBody>
      </p:sp>
      <p:sp>
        <p:nvSpPr>
          <p:cNvPr id="25609" name="Text 7">
            <a:extLst>
              <a:ext uri="{FF2B5EF4-FFF2-40B4-BE49-F238E27FC236}">
                <a16:creationId xmlns:a16="http://schemas.microsoft.com/office/drawing/2014/main" id="{130757A7-4A51-974B-B1B0-6C6782FF8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3108325"/>
            <a:ext cx="2559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Tests &amp;</a:t>
            </a:r>
            <a:endParaRPr lang="en-US" altLang="en-US" sz="1600"/>
          </a:p>
          <a:p>
            <a:pPr algn="ctr" eaLnBrk="1" hangingPunct="1"/>
            <a:r>
              <a:rPr lang="en-US" altLang="en-US" sz="1600" b="1">
                <a:solidFill>
                  <a:srgbClr val="FFFFFF"/>
                </a:solidFill>
              </a:rPr>
              <a:t>Résultats</a:t>
            </a:r>
            <a:endParaRPr lang="en-US" altLang="en-US" sz="1600"/>
          </a:p>
        </p:txBody>
      </p:sp>
      <p:sp>
        <p:nvSpPr>
          <p:cNvPr id="25610" name="Shape 8">
            <a:extLst>
              <a:ext uri="{FF2B5EF4-FFF2-40B4-BE49-F238E27FC236}">
                <a16:creationId xmlns:a16="http://schemas.microsoft.com/office/drawing/2014/main" id="{37104559-6333-5303-03C4-0F44211D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6400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1" name="Text 9">
            <a:extLst>
              <a:ext uri="{FF2B5EF4-FFF2-40B4-BE49-F238E27FC236}">
                <a16:creationId xmlns:a16="http://schemas.microsoft.com/office/drawing/2014/main" id="{D39A666B-C84A-0EE5-FCE2-8E196D68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92075"/>
            <a:ext cx="6034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2929CC"/>
                </a:solidFill>
              </a:rPr>
              <a:t>Validation complète du système</a:t>
            </a:r>
            <a:endParaRPr lang="en-US" altLang="en-US" sz="1500"/>
          </a:p>
        </p:txBody>
      </p:sp>
      <p:sp>
        <p:nvSpPr>
          <p:cNvPr id="25612" name="Shape 10">
            <a:extLst>
              <a:ext uri="{FF2B5EF4-FFF2-40B4-BE49-F238E27FC236}">
                <a16:creationId xmlns:a16="http://schemas.microsoft.com/office/drawing/2014/main" id="{EA102810-0499-4D17-997E-5DA96CCD1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03238"/>
            <a:ext cx="1390650" cy="141763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3" name="Text 11">
            <a:extLst>
              <a:ext uri="{FF2B5EF4-FFF2-40B4-BE49-F238E27FC236}">
                <a16:creationId xmlns:a16="http://schemas.microsoft.com/office/drawing/2014/main" id="{4E26E1B7-0042-AFD5-85FB-E86F0B90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549275"/>
            <a:ext cx="1390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🧪</a:t>
            </a:r>
            <a:endParaRPr lang="en-US" altLang="en-US" sz="2200"/>
          </a:p>
        </p:txBody>
      </p:sp>
      <p:sp>
        <p:nvSpPr>
          <p:cNvPr id="25614" name="Text 12">
            <a:extLst>
              <a:ext uri="{FF2B5EF4-FFF2-40B4-BE49-F238E27FC236}">
                <a16:creationId xmlns:a16="http://schemas.microsoft.com/office/drawing/2014/main" id="{37789870-6094-47B5-6D3E-B118E8F2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987425"/>
            <a:ext cx="1390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100%</a:t>
            </a:r>
            <a:endParaRPr lang="en-US" altLang="en-US" sz="2800"/>
          </a:p>
        </p:txBody>
      </p:sp>
      <p:sp>
        <p:nvSpPr>
          <p:cNvPr id="25615" name="Text 13">
            <a:extLst>
              <a:ext uri="{FF2B5EF4-FFF2-40B4-BE49-F238E27FC236}">
                <a16:creationId xmlns:a16="http://schemas.microsoft.com/office/drawing/2014/main" id="{9604FCA7-0C0D-A62B-CB1A-D0A35EEC3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1508125"/>
            <a:ext cx="1390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Tests PHPUnit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validés</a:t>
            </a:r>
            <a:endParaRPr lang="en-US" altLang="en-US" sz="900"/>
          </a:p>
        </p:txBody>
      </p:sp>
      <p:sp>
        <p:nvSpPr>
          <p:cNvPr id="25616" name="Shape 14">
            <a:extLst>
              <a:ext uri="{FF2B5EF4-FFF2-40B4-BE49-F238E27FC236}">
                <a16:creationId xmlns:a16="http://schemas.microsoft.com/office/drawing/2014/main" id="{EBE8F439-538F-C6E5-A19A-E365E95B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03238"/>
            <a:ext cx="1389063" cy="141763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7" name="Text 15">
            <a:extLst>
              <a:ext uri="{FF2B5EF4-FFF2-40B4-BE49-F238E27FC236}">
                <a16:creationId xmlns:a16="http://schemas.microsoft.com/office/drawing/2014/main" id="{6AEEB59B-BBAD-0BFF-0C88-136AE96FE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549275"/>
            <a:ext cx="13890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⚡</a:t>
            </a:r>
            <a:endParaRPr lang="en-US" altLang="en-US" sz="2200"/>
          </a:p>
        </p:txBody>
      </p:sp>
      <p:sp>
        <p:nvSpPr>
          <p:cNvPr id="25618" name="Text 16">
            <a:extLst>
              <a:ext uri="{FF2B5EF4-FFF2-40B4-BE49-F238E27FC236}">
                <a16:creationId xmlns:a16="http://schemas.microsoft.com/office/drawing/2014/main" id="{B729E233-F8D9-5AD8-47AB-EC1B55F72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987425"/>
            <a:ext cx="1389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3</a:t>
            </a:r>
            <a:endParaRPr lang="en-US" altLang="en-US" sz="2800"/>
          </a:p>
        </p:txBody>
      </p:sp>
      <p:sp>
        <p:nvSpPr>
          <p:cNvPr id="25619" name="Text 17">
            <a:extLst>
              <a:ext uri="{FF2B5EF4-FFF2-40B4-BE49-F238E27FC236}">
                <a16:creationId xmlns:a16="http://schemas.microsoft.com/office/drawing/2014/main" id="{F5C432A6-56F7-6C17-AEE6-7B95C5F7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1508125"/>
            <a:ext cx="13890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Types d'attaques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détectées</a:t>
            </a:r>
            <a:endParaRPr lang="en-US" altLang="en-US" sz="900"/>
          </a:p>
        </p:txBody>
      </p:sp>
      <p:sp>
        <p:nvSpPr>
          <p:cNvPr id="25620" name="Shape 18">
            <a:extLst>
              <a:ext uri="{FF2B5EF4-FFF2-40B4-BE49-F238E27FC236}">
                <a16:creationId xmlns:a16="http://schemas.microsoft.com/office/drawing/2014/main" id="{873B26FE-89C5-D534-A5AF-2517B8FA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03238"/>
            <a:ext cx="1389063" cy="141763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1" name="Text 19">
            <a:extLst>
              <a:ext uri="{FF2B5EF4-FFF2-40B4-BE49-F238E27FC236}">
                <a16:creationId xmlns:a16="http://schemas.microsoft.com/office/drawing/2014/main" id="{7C7826BD-E9E2-47EB-86EC-43E55637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49275"/>
            <a:ext cx="13890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⚙️</a:t>
            </a:r>
            <a:endParaRPr lang="en-US" altLang="en-US" sz="2200"/>
          </a:p>
        </p:txBody>
      </p:sp>
      <p:sp>
        <p:nvSpPr>
          <p:cNvPr id="25622" name="Text 20">
            <a:extLst>
              <a:ext uri="{FF2B5EF4-FFF2-40B4-BE49-F238E27FC236}">
                <a16:creationId xmlns:a16="http://schemas.microsoft.com/office/drawing/2014/main" id="{D54FFBD9-703A-47C8-43EF-388CB97AF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987425"/>
            <a:ext cx="1389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5</a:t>
            </a:r>
            <a:endParaRPr lang="en-US" altLang="en-US" sz="2800"/>
          </a:p>
        </p:txBody>
      </p:sp>
      <p:sp>
        <p:nvSpPr>
          <p:cNvPr id="25623" name="Text 21">
            <a:extLst>
              <a:ext uri="{FF2B5EF4-FFF2-40B4-BE49-F238E27FC236}">
                <a16:creationId xmlns:a16="http://schemas.microsoft.com/office/drawing/2014/main" id="{B9CB2AAD-2FBD-E4FB-0991-5E03AC54C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508125"/>
            <a:ext cx="1389063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Modules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fonctionnels</a:t>
            </a:r>
            <a:endParaRPr lang="en-US" altLang="en-US" sz="900"/>
          </a:p>
        </p:txBody>
      </p:sp>
      <p:sp>
        <p:nvSpPr>
          <p:cNvPr id="25624" name="Shape 22">
            <a:extLst>
              <a:ext uri="{FF2B5EF4-FFF2-40B4-BE49-F238E27FC236}">
                <a16:creationId xmlns:a16="http://schemas.microsoft.com/office/drawing/2014/main" id="{02CDBD75-FCED-3C36-BCE9-75CB5D605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503238"/>
            <a:ext cx="1390650" cy="141763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5" name="Text 23">
            <a:extLst>
              <a:ext uri="{FF2B5EF4-FFF2-40B4-BE49-F238E27FC236}">
                <a16:creationId xmlns:a16="http://schemas.microsoft.com/office/drawing/2014/main" id="{0E1006B1-5CAD-5296-79B6-9755ACDAE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549275"/>
            <a:ext cx="1390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200">
                <a:solidFill>
                  <a:srgbClr val="000000"/>
                </a:solidFill>
              </a:rPr>
              <a:t>✅</a:t>
            </a:r>
            <a:endParaRPr lang="en-US" altLang="en-US" sz="2200"/>
          </a:p>
        </p:txBody>
      </p:sp>
      <p:sp>
        <p:nvSpPr>
          <p:cNvPr id="25626" name="Text 24">
            <a:extLst>
              <a:ext uri="{FF2B5EF4-FFF2-40B4-BE49-F238E27FC236}">
                <a16:creationId xmlns:a16="http://schemas.microsoft.com/office/drawing/2014/main" id="{82EE1C29-2EA1-F681-6A0F-D149E8E2D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987425"/>
            <a:ext cx="1390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0</a:t>
            </a:r>
            <a:endParaRPr lang="en-US" altLang="en-US" sz="2800"/>
          </a:p>
        </p:txBody>
      </p:sp>
      <p:sp>
        <p:nvSpPr>
          <p:cNvPr id="25627" name="Text 25">
            <a:extLst>
              <a:ext uri="{FF2B5EF4-FFF2-40B4-BE49-F238E27FC236}">
                <a16:creationId xmlns:a16="http://schemas.microsoft.com/office/drawing/2014/main" id="{C0D4EE9C-2F25-B8ED-7633-09343DD57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700" y="1508125"/>
            <a:ext cx="13906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Tests en</a:t>
            </a:r>
            <a:endParaRPr lang="en-US" altLang="en-US" sz="900"/>
          </a:p>
          <a:p>
            <a:pPr algn="ctr" eaLnBrk="1" hangingPunct="1"/>
            <a:r>
              <a:rPr lang="en-US" altLang="en-US" sz="900">
                <a:solidFill>
                  <a:srgbClr val="FFFFFF"/>
                </a:solidFill>
              </a:rPr>
              <a:t>échec</a:t>
            </a:r>
            <a:endParaRPr lang="en-US" altLang="en-US" sz="900"/>
          </a:p>
        </p:txBody>
      </p:sp>
      <p:sp>
        <p:nvSpPr>
          <p:cNvPr id="25628" name="Shape 26">
            <a:extLst>
              <a:ext uri="{FF2B5EF4-FFF2-40B4-BE49-F238E27FC236}">
                <a16:creationId xmlns:a16="http://schemas.microsoft.com/office/drawing/2014/main" id="{9452B5F8-451A-CD21-5C51-2F684AC6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011363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9" name="Shape 27">
            <a:extLst>
              <a:ext uri="{FF2B5EF4-FFF2-40B4-BE49-F238E27FC236}">
                <a16:creationId xmlns:a16="http://schemas.microsoft.com/office/drawing/2014/main" id="{0FC8C1C7-402A-49B9-A320-A8F80EE4C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2103438"/>
            <a:ext cx="384175" cy="38417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0" name="Text 28">
            <a:extLst>
              <a:ext uri="{FF2B5EF4-FFF2-40B4-BE49-F238E27FC236}">
                <a16:creationId xmlns:a16="http://schemas.microsoft.com/office/drawing/2014/main" id="{0BEFA169-B93B-8AC2-793D-BFACC5442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2103438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🔒</a:t>
            </a:r>
            <a:endParaRPr lang="en-US" altLang="en-US" sz="1600"/>
          </a:p>
        </p:txBody>
      </p:sp>
      <p:sp>
        <p:nvSpPr>
          <p:cNvPr id="25631" name="Text 29">
            <a:extLst>
              <a:ext uri="{FF2B5EF4-FFF2-40B4-BE49-F238E27FC236}">
                <a16:creationId xmlns:a16="http://schemas.microsoft.com/office/drawing/2014/main" id="{97B05B8E-07E6-C563-46C9-9B165EFAF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084388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Authentification OTP</a:t>
            </a:r>
            <a:endParaRPr lang="en-US" altLang="en-US" sz="11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B9AEC45-36DD-B6DD-826A-1E52E1308F78}"/>
              </a:ext>
            </a:extLst>
          </p:cNvPr>
          <p:cNvSpPr/>
          <p:nvPr/>
        </p:nvSpPr>
        <p:spPr>
          <a:xfrm>
            <a:off x="2944813" y="2378075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Connexion sécurisée validée. Verrouillage après 5 tentatives. OTP expiré correctement rejeté.</a:t>
            </a:r>
            <a:endParaRPr lang="en-US" sz="950" dirty="0">
              <a:latin typeface="+mn-lt"/>
            </a:endParaRPr>
          </a:p>
        </p:txBody>
      </p:sp>
      <p:sp>
        <p:nvSpPr>
          <p:cNvPr id="25633" name="Shape 31">
            <a:extLst>
              <a:ext uri="{FF2B5EF4-FFF2-40B4-BE49-F238E27FC236}">
                <a16:creationId xmlns:a16="http://schemas.microsoft.com/office/drawing/2014/main" id="{594E516B-D034-295E-7EFF-6CB5D281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359025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4" name="Text 32">
            <a:extLst>
              <a:ext uri="{FF2B5EF4-FFF2-40B4-BE49-F238E27FC236}">
                <a16:creationId xmlns:a16="http://schemas.microsoft.com/office/drawing/2014/main" id="{DCB2786E-A7DA-782E-E15F-3BBC78D6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2359025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tenter 6 connexions → compte bloqué 30 min automatiquement.</a:t>
            </a:r>
            <a:endParaRPr lang="en-US" altLang="en-US" sz="800"/>
          </a:p>
        </p:txBody>
      </p:sp>
      <p:sp>
        <p:nvSpPr>
          <p:cNvPr id="25635" name="Shape 33">
            <a:extLst>
              <a:ext uri="{FF2B5EF4-FFF2-40B4-BE49-F238E27FC236}">
                <a16:creationId xmlns:a16="http://schemas.microsoft.com/office/drawing/2014/main" id="{19F8DF81-1B0F-6C9E-D95E-91002FC4D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998788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6" name="Shape 34">
            <a:extLst>
              <a:ext uri="{FF2B5EF4-FFF2-40B4-BE49-F238E27FC236}">
                <a16:creationId xmlns:a16="http://schemas.microsoft.com/office/drawing/2014/main" id="{8C7FCC1C-D93A-A852-28D4-A80CEBF3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3090863"/>
            <a:ext cx="384175" cy="384175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37" name="Text 35">
            <a:extLst>
              <a:ext uri="{FF2B5EF4-FFF2-40B4-BE49-F238E27FC236}">
                <a16:creationId xmlns:a16="http://schemas.microsoft.com/office/drawing/2014/main" id="{28845C80-5BFF-7D95-4AE2-348B2F6A2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3090863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⚡</a:t>
            </a:r>
            <a:endParaRPr lang="en-US" altLang="en-US" sz="1600"/>
          </a:p>
        </p:txBody>
      </p:sp>
      <p:sp>
        <p:nvSpPr>
          <p:cNvPr id="25638" name="Text 36">
            <a:extLst>
              <a:ext uri="{FF2B5EF4-FFF2-40B4-BE49-F238E27FC236}">
                <a16:creationId xmlns:a16="http://schemas.microsoft.com/office/drawing/2014/main" id="{4F4ADA0A-C405-C920-A40A-C50B54F5C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071813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Détection d'attaques (Brute Force, SQL, XSS)</a:t>
            </a:r>
            <a:endParaRPr lang="en-US" altLang="en-US" sz="11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4601010-98C7-7CBA-49C2-F762E9E813DB}"/>
              </a:ext>
            </a:extLst>
          </p:cNvPr>
          <p:cNvSpPr/>
          <p:nvPr/>
        </p:nvSpPr>
        <p:spPr>
          <a:xfrm>
            <a:off x="2944813" y="3365500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Les 3 types détectés, journalisés, alerte créée. Règles actives et configurables par l'admin.</a:t>
            </a:r>
            <a:endParaRPr lang="en-US" sz="950" dirty="0">
              <a:latin typeface="+mn-lt"/>
            </a:endParaRPr>
          </a:p>
        </p:txBody>
      </p:sp>
      <p:sp>
        <p:nvSpPr>
          <p:cNvPr id="25640" name="Shape 38">
            <a:extLst>
              <a:ext uri="{FF2B5EF4-FFF2-40B4-BE49-F238E27FC236}">
                <a16:creationId xmlns:a16="http://schemas.microsoft.com/office/drawing/2014/main" id="{05B49B03-C2F0-1233-8CAE-9D2660F0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3346450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1" name="Text 39">
            <a:extLst>
              <a:ext uri="{FF2B5EF4-FFF2-40B4-BE49-F238E27FC236}">
                <a16:creationId xmlns:a16="http://schemas.microsoft.com/office/drawing/2014/main" id="{D99B6B7B-49A4-2223-D2E7-A84B959DE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346450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INSERT INTO dans un champ → alerte HIGH générée, action refusée.</a:t>
            </a:r>
            <a:endParaRPr lang="en-US" altLang="en-US" sz="800"/>
          </a:p>
        </p:txBody>
      </p:sp>
      <p:sp>
        <p:nvSpPr>
          <p:cNvPr id="25642" name="Shape 40">
            <a:extLst>
              <a:ext uri="{FF2B5EF4-FFF2-40B4-BE49-F238E27FC236}">
                <a16:creationId xmlns:a16="http://schemas.microsoft.com/office/drawing/2014/main" id="{369531D6-8EB0-6C74-4082-D81B750F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986213"/>
            <a:ext cx="6016625" cy="89693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3" name="Shape 41">
            <a:extLst>
              <a:ext uri="{FF2B5EF4-FFF2-40B4-BE49-F238E27FC236}">
                <a16:creationId xmlns:a16="http://schemas.microsoft.com/office/drawing/2014/main" id="{AD2C8627-987B-A69B-8A15-DB57D4DD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13" y="4078288"/>
            <a:ext cx="384175" cy="38417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4" name="Text 42">
            <a:extLst>
              <a:ext uri="{FF2B5EF4-FFF2-40B4-BE49-F238E27FC236}">
                <a16:creationId xmlns:a16="http://schemas.microsoft.com/office/drawing/2014/main" id="{F85CE1EF-314D-922F-080C-61509F05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4078288"/>
            <a:ext cx="4206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solidFill>
                  <a:srgbClr val="000000"/>
                </a:solidFill>
              </a:rPr>
              <a:t>📊</a:t>
            </a:r>
            <a:endParaRPr lang="en-US" altLang="en-US" sz="1600"/>
          </a:p>
        </p:txBody>
      </p:sp>
      <p:sp>
        <p:nvSpPr>
          <p:cNvPr id="25645" name="Text 43">
            <a:extLst>
              <a:ext uri="{FF2B5EF4-FFF2-40B4-BE49-F238E27FC236}">
                <a16:creationId xmlns:a16="http://schemas.microsoft.com/office/drawing/2014/main" id="{40F9A1C7-18BE-85BA-61FF-C309BBA25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059238"/>
            <a:ext cx="457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b="1">
                <a:solidFill>
                  <a:srgbClr val="2929CC"/>
                </a:solidFill>
              </a:rPr>
              <a:t>Supervision &amp; Audit</a:t>
            </a:r>
            <a:endParaRPr lang="en-US" altLang="en-US" sz="11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3DB27A8-5134-E677-35BD-06905BDD7075}"/>
              </a:ext>
            </a:extLst>
          </p:cNvPr>
          <p:cNvSpPr/>
          <p:nvPr/>
        </p:nvSpPr>
        <p:spPr>
          <a:xfrm>
            <a:off x="2944813" y="4352925"/>
            <a:ext cx="3840162" cy="438150"/>
          </a:xfrm>
          <a:prstGeom prst="rect">
            <a:avLst/>
          </a:prstGeom>
          <a:noFill/>
          <a:ln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dirty="0">
                <a:solidFill>
                  <a:srgbClr val="6B7280"/>
                </a:solidFill>
                <a:latin typeface="+mn-lt"/>
              </a:rPr>
              <a:t>Tableau de bord SOC opérationnel. Blocage IP en 1 clic. Incidents consultables et clôturables.</a:t>
            </a:r>
            <a:endParaRPr lang="en-US" sz="950" dirty="0">
              <a:latin typeface="+mn-lt"/>
            </a:endParaRPr>
          </a:p>
        </p:txBody>
      </p:sp>
      <p:sp>
        <p:nvSpPr>
          <p:cNvPr id="25647" name="Shape 45">
            <a:extLst>
              <a:ext uri="{FF2B5EF4-FFF2-40B4-BE49-F238E27FC236}">
                <a16:creationId xmlns:a16="http://schemas.microsoft.com/office/drawing/2014/main" id="{3093E49A-2D3F-9B11-003D-EF41D4310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333875"/>
            <a:ext cx="191928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48" name="Text 46">
            <a:extLst>
              <a:ext uri="{FF2B5EF4-FFF2-40B4-BE49-F238E27FC236}">
                <a16:creationId xmlns:a16="http://schemas.microsoft.com/office/drawing/2014/main" id="{1B8C5D53-B540-A910-B7F2-5DBEFCC2C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333875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78350F"/>
                </a:solidFill>
              </a:rPr>
              <a:t>💡 Test : bloquer une IP → elle ne peut plus accéder à aucune route protégée.</a:t>
            </a:r>
            <a:endParaRPr lang="en-US" altLang="en-US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hape 0">
            <a:extLst>
              <a:ext uri="{FF2B5EF4-FFF2-40B4-BE49-F238E27FC236}">
                <a16:creationId xmlns:a16="http://schemas.microsoft.com/office/drawing/2014/main" id="{8202FCC5-4753-0CE3-60C0-4880368B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4114800" cy="4114800"/>
          </a:xfrm>
          <a:prstGeom prst="ellipse">
            <a:avLst/>
          </a:prstGeom>
          <a:solidFill>
            <a:srgbClr val="5252E0">
              <a:alpha val="58038"/>
            </a:srgbClr>
          </a:solidFill>
          <a:ln w="12700">
            <a:solidFill>
              <a:srgbClr val="5252E0">
                <a:alpha val="58038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1" name="Shape 1">
            <a:extLst>
              <a:ext uri="{FF2B5EF4-FFF2-40B4-BE49-F238E27FC236}">
                <a16:creationId xmlns:a16="http://schemas.microsoft.com/office/drawing/2014/main" id="{698B06A4-9CF2-1721-B4C4-8E1FF413B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2286000"/>
            <a:ext cx="3200400" cy="3200400"/>
          </a:xfrm>
          <a:prstGeom prst="ellipse">
            <a:avLst/>
          </a:prstGeom>
          <a:solidFill>
            <a:srgbClr val="5252E0">
              <a:alpha val="47842"/>
            </a:srgbClr>
          </a:solidFill>
          <a:ln w="12700">
            <a:solidFill>
              <a:srgbClr val="5252E0">
                <a:alpha val="47842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2" name="Shape 2">
            <a:extLst>
              <a:ext uri="{FF2B5EF4-FFF2-40B4-BE49-F238E27FC236}">
                <a16:creationId xmlns:a16="http://schemas.microsoft.com/office/drawing/2014/main" id="{A8E7A5C0-9188-8770-6920-6E42A0AA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4114800"/>
            <a:ext cx="2011362" cy="2011363"/>
          </a:xfrm>
          <a:prstGeom prst="ellipse">
            <a:avLst/>
          </a:prstGeom>
          <a:solidFill>
            <a:srgbClr val="FFFFFF">
              <a:alpha val="12941"/>
            </a:srgbClr>
          </a:solidFill>
          <a:ln w="12700">
            <a:solidFill>
              <a:srgbClr val="FFFFFF">
                <a:alpha val="12941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3" name="Text 3">
            <a:extLst>
              <a:ext uri="{FF2B5EF4-FFF2-40B4-BE49-F238E27FC236}">
                <a16:creationId xmlns:a16="http://schemas.microsoft.com/office/drawing/2014/main" id="{2CD58C6A-6C67-5796-8FB1-2FBBB3AD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4638"/>
            <a:ext cx="731520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000" b="1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🏁 Conclusion &amp; Perspectives</a:t>
            </a:r>
            <a:endParaRPr lang="en-US" altLang="en-US" sz="3000"/>
          </a:p>
        </p:txBody>
      </p:sp>
      <p:sp>
        <p:nvSpPr>
          <p:cNvPr id="27654" name="Shape 4">
            <a:extLst>
              <a:ext uri="{FF2B5EF4-FFF2-40B4-BE49-F238E27FC236}">
                <a16:creationId xmlns:a16="http://schemas.microsoft.com/office/drawing/2014/main" id="{88C6F2B7-5E7B-BAAE-5A2D-EBEF01E55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1050925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5" name="Text 5">
            <a:extLst>
              <a:ext uri="{FF2B5EF4-FFF2-40B4-BE49-F238E27FC236}">
                <a16:creationId xmlns:a16="http://schemas.microsoft.com/office/drawing/2014/main" id="{F475F957-B588-376F-6A98-DDE16E3B8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050925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✅</a:t>
            </a:r>
            <a:endParaRPr lang="en-US" altLang="en-US" sz="1700"/>
          </a:p>
        </p:txBody>
      </p:sp>
      <p:sp>
        <p:nvSpPr>
          <p:cNvPr id="27656" name="Text 6">
            <a:extLst>
              <a:ext uri="{FF2B5EF4-FFF2-40B4-BE49-F238E27FC236}">
                <a16:creationId xmlns:a16="http://schemas.microsoft.com/office/drawing/2014/main" id="{1C9DDE77-02FA-11E5-C865-728EBFE0D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050925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Objectif atteint</a:t>
            </a:r>
            <a:endParaRPr lang="en-US" altLang="en-US" sz="1200"/>
          </a:p>
        </p:txBody>
      </p:sp>
      <p:sp>
        <p:nvSpPr>
          <p:cNvPr id="27657" name="Text 7">
            <a:extLst>
              <a:ext uri="{FF2B5EF4-FFF2-40B4-BE49-F238E27FC236}">
                <a16:creationId xmlns:a16="http://schemas.microsoft.com/office/drawing/2014/main" id="{08F0EC39-75CB-29EB-3104-72C1938F6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069975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CyberGuard simule, détecte et supervise des cyberattaques dans un cadre pédagogique.</a:t>
            </a:r>
            <a:endParaRPr lang="en-US" altLang="en-US" sz="1100"/>
          </a:p>
        </p:txBody>
      </p:sp>
      <p:sp>
        <p:nvSpPr>
          <p:cNvPr id="27658" name="Shape 8">
            <a:extLst>
              <a:ext uri="{FF2B5EF4-FFF2-40B4-BE49-F238E27FC236}">
                <a16:creationId xmlns:a16="http://schemas.microsoft.com/office/drawing/2014/main" id="{BC65E804-E473-6323-C867-1486B67C0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1892300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9" name="Text 9">
            <a:extLst>
              <a:ext uri="{FF2B5EF4-FFF2-40B4-BE49-F238E27FC236}">
                <a16:creationId xmlns:a16="http://schemas.microsoft.com/office/drawing/2014/main" id="{27AA90FF-8E48-1E56-3FF2-0634AE47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892300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🏗️</a:t>
            </a:r>
            <a:endParaRPr lang="en-US" altLang="en-US" sz="1700"/>
          </a:p>
        </p:txBody>
      </p:sp>
      <p:sp>
        <p:nvSpPr>
          <p:cNvPr id="27660" name="Text 10">
            <a:extLst>
              <a:ext uri="{FF2B5EF4-FFF2-40B4-BE49-F238E27FC236}">
                <a16:creationId xmlns:a16="http://schemas.microsoft.com/office/drawing/2014/main" id="{B473D643-4F6F-822B-3A82-9FC396288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892300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Architecture solide</a:t>
            </a:r>
            <a:endParaRPr lang="en-US" altLang="en-US" sz="1200"/>
          </a:p>
        </p:txBody>
      </p:sp>
      <p:sp>
        <p:nvSpPr>
          <p:cNvPr id="27661" name="Text 11">
            <a:extLst>
              <a:ext uri="{FF2B5EF4-FFF2-40B4-BE49-F238E27FC236}">
                <a16:creationId xmlns:a16="http://schemas.microsoft.com/office/drawing/2014/main" id="{00FE25F8-664B-7287-8537-8598F6CA8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911350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5 modules fonctionnels : Auth OTP, App métier, Journalisation, Détection, SOC.</a:t>
            </a:r>
            <a:endParaRPr lang="en-US" altLang="en-US" sz="1100"/>
          </a:p>
        </p:txBody>
      </p:sp>
      <p:sp>
        <p:nvSpPr>
          <p:cNvPr id="27662" name="Shape 12">
            <a:extLst>
              <a:ext uri="{FF2B5EF4-FFF2-40B4-BE49-F238E27FC236}">
                <a16:creationId xmlns:a16="http://schemas.microsoft.com/office/drawing/2014/main" id="{3BB35BEB-584A-A699-51AF-F578527FD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733675"/>
            <a:ext cx="384175" cy="384175"/>
          </a:xfrm>
          <a:prstGeom prst="ellipse">
            <a:avLst/>
          </a:prstGeom>
          <a:solidFill>
            <a:srgbClr val="FFFFFF">
              <a:alpha val="90195"/>
            </a:srgbClr>
          </a:solidFill>
          <a:ln w="12700">
            <a:solidFill>
              <a:srgbClr val="FFFFFF">
                <a:alpha val="79999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Text 13">
            <a:extLst>
              <a:ext uri="{FF2B5EF4-FFF2-40B4-BE49-F238E27FC236}">
                <a16:creationId xmlns:a16="http://schemas.microsoft.com/office/drawing/2014/main" id="{0CB5BD5E-24D3-B983-D8C3-E9D8209D2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2733675"/>
            <a:ext cx="4206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00000"/>
                </a:solidFill>
              </a:rPr>
              <a:t>🧪</a:t>
            </a:r>
            <a:endParaRPr lang="en-US" altLang="en-US" sz="1700"/>
          </a:p>
        </p:txBody>
      </p:sp>
      <p:sp>
        <p:nvSpPr>
          <p:cNvPr id="27664" name="Text 14">
            <a:extLst>
              <a:ext uri="{FF2B5EF4-FFF2-40B4-BE49-F238E27FC236}">
                <a16:creationId xmlns:a16="http://schemas.microsoft.com/office/drawing/2014/main" id="{95596ABC-A24D-032B-6233-47B589FAD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2733675"/>
            <a:ext cx="20129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Tests validés (100%)</a:t>
            </a:r>
            <a:endParaRPr lang="en-US" altLang="en-US" sz="1200"/>
          </a:p>
        </p:txBody>
      </p:sp>
      <p:sp>
        <p:nvSpPr>
          <p:cNvPr id="27665" name="Text 15">
            <a:extLst>
              <a:ext uri="{FF2B5EF4-FFF2-40B4-BE49-F238E27FC236}">
                <a16:creationId xmlns:a16="http://schemas.microsoft.com/office/drawing/2014/main" id="{ED633615-1694-19BA-FD72-C304D7203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2752725"/>
            <a:ext cx="53038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D6D6F8"/>
                </a:solidFill>
              </a:rPr>
              <a:t>Suite PHPUnit complète : toutes les routes, règles et scénarios testés et approuvés.</a:t>
            </a:r>
            <a:endParaRPr lang="en-US" altLang="en-US" sz="1100"/>
          </a:p>
        </p:txBody>
      </p:sp>
      <p:sp>
        <p:nvSpPr>
          <p:cNvPr id="27666" name="Shape 16">
            <a:extLst>
              <a:ext uri="{FF2B5EF4-FFF2-40B4-BE49-F238E27FC236}">
                <a16:creationId xmlns:a16="http://schemas.microsoft.com/office/drawing/2014/main" id="{C43DAAC2-6191-FA61-2AA9-095618CAC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3611563"/>
            <a:ext cx="3290888" cy="1235075"/>
          </a:xfrm>
          <a:prstGeom prst="rect">
            <a:avLst/>
          </a:prstGeom>
          <a:solidFill>
            <a:srgbClr val="5252E0">
              <a:alpha val="70195"/>
            </a:srgbClr>
          </a:solidFill>
          <a:ln w="1270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7" name="Text 17">
            <a:extLst>
              <a:ext uri="{FF2B5EF4-FFF2-40B4-BE49-F238E27FC236}">
                <a16:creationId xmlns:a16="http://schemas.microsoft.com/office/drawing/2014/main" id="{BD191CFA-3134-C0A3-0A17-DE0A7311D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57600"/>
            <a:ext cx="30178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⚠️ Limites</a:t>
            </a:r>
            <a:endParaRPr lang="en-US" altLang="en-US" sz="1200"/>
          </a:p>
        </p:txBody>
      </p:sp>
      <p:sp>
        <p:nvSpPr>
          <p:cNvPr id="27668" name="Text 18">
            <a:extLst>
              <a:ext uri="{FF2B5EF4-FFF2-40B4-BE49-F238E27FC236}">
                <a16:creationId xmlns:a16="http://schemas.microsoft.com/office/drawing/2014/main" id="{D5164347-D30B-1B7D-71E5-29C9CFCA2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49700"/>
            <a:ext cx="30178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Périmètre restreint à 3 types d'attaques</a:t>
            </a:r>
            <a:endParaRPr lang="en-US" altLang="en-US" sz="1000"/>
          </a:p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Déploiement local (démonstratif)</a:t>
            </a:r>
            <a:endParaRPr lang="en-US" altLang="en-US" sz="1000"/>
          </a:p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• Non destiné à un SOC industriel</a:t>
            </a:r>
            <a:endParaRPr lang="en-US" altLang="en-US" sz="1000"/>
          </a:p>
        </p:txBody>
      </p:sp>
      <p:sp>
        <p:nvSpPr>
          <p:cNvPr id="27669" name="Shape 19">
            <a:extLst>
              <a:ext uri="{FF2B5EF4-FFF2-40B4-BE49-F238E27FC236}">
                <a16:creationId xmlns:a16="http://schemas.microsoft.com/office/drawing/2014/main" id="{A4A7F4C8-26C4-FA3E-0B66-929B7D1F2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3611563"/>
            <a:ext cx="4754562" cy="1235075"/>
          </a:xfrm>
          <a:prstGeom prst="rect">
            <a:avLst/>
          </a:prstGeom>
          <a:solidFill>
            <a:srgbClr val="5252E0">
              <a:alpha val="70195"/>
            </a:srgbClr>
          </a:solidFill>
          <a:ln w="1270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70" name="Text 20">
            <a:extLst>
              <a:ext uri="{FF2B5EF4-FFF2-40B4-BE49-F238E27FC236}">
                <a16:creationId xmlns:a16="http://schemas.microsoft.com/office/drawing/2014/main" id="{9C66C437-1D34-B3E6-EFD9-CE24721EF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657600"/>
            <a:ext cx="44799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FFFF"/>
                </a:solidFill>
              </a:rPr>
              <a:t>🚀 Perspectives</a:t>
            </a:r>
            <a:endParaRPr lang="en-US" altLang="en-US" sz="1200"/>
          </a:p>
        </p:txBody>
      </p:sp>
      <p:sp>
        <p:nvSpPr>
          <p:cNvPr id="27671" name="Text 21">
            <a:extLst>
              <a:ext uri="{FF2B5EF4-FFF2-40B4-BE49-F238E27FC236}">
                <a16:creationId xmlns:a16="http://schemas.microsoft.com/office/drawing/2014/main" id="{41938D03-2883-C8F8-90FF-BAA06422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978275"/>
            <a:ext cx="447992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🤖 Analyse comportementale par IA</a:t>
            </a:r>
            <a:endParaRPr lang="en-US" altLang="en-US" sz="1000"/>
          </a:p>
        </p:txBody>
      </p:sp>
      <p:sp>
        <p:nvSpPr>
          <p:cNvPr id="27672" name="Text 22">
            <a:extLst>
              <a:ext uri="{FF2B5EF4-FFF2-40B4-BE49-F238E27FC236}">
                <a16:creationId xmlns:a16="http://schemas.microsoft.com/office/drawing/2014/main" id="{0E646D2F-956C-1053-15AB-6DFA13F7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4251325"/>
            <a:ext cx="44799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🌐 Nouveaux scénarios d'attaque (CSRF, XXE)</a:t>
            </a:r>
            <a:endParaRPr lang="en-US" altLang="en-US" sz="1000"/>
          </a:p>
        </p:txBody>
      </p:sp>
      <p:sp>
        <p:nvSpPr>
          <p:cNvPr id="27673" name="Text 23">
            <a:extLst>
              <a:ext uri="{FF2B5EF4-FFF2-40B4-BE49-F238E27FC236}">
                <a16:creationId xmlns:a16="http://schemas.microsoft.com/office/drawing/2014/main" id="{75F91C5B-28CF-F168-131B-0F183C07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4525963"/>
            <a:ext cx="447992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D6D6F8"/>
                </a:solidFill>
              </a:rPr>
              <a:t>☁️ Déploiement sur architecture distribuée</a:t>
            </a:r>
            <a:endParaRPr lang="en-US" alt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hape 0">
            <a:extLst>
              <a:ext uri="{FF2B5EF4-FFF2-40B4-BE49-F238E27FC236}">
                <a16:creationId xmlns:a16="http://schemas.microsoft.com/office/drawing/2014/main" id="{34CF4C0B-C605-938C-E996-165376FD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363" y="-2011363"/>
            <a:ext cx="5029201" cy="5029201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699" name="Shape 1">
            <a:extLst>
              <a:ext uri="{FF2B5EF4-FFF2-40B4-BE49-F238E27FC236}">
                <a16:creationId xmlns:a16="http://schemas.microsoft.com/office/drawing/2014/main" id="{330990B7-FDDB-61DC-A989-F3A2D9D2B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1600" y="-1371600"/>
            <a:ext cx="3657600" cy="3657600"/>
          </a:xfrm>
          <a:prstGeom prst="ellipse">
            <a:avLst/>
          </a:prstGeom>
          <a:solidFill>
            <a:srgbClr val="5252E0">
              <a:alpha val="63921"/>
            </a:srgbClr>
          </a:solidFill>
          <a:ln w="12700">
            <a:solidFill>
              <a:srgbClr val="5252E0">
                <a:alpha val="63921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0" name="Shape 2">
            <a:extLst>
              <a:ext uri="{FF2B5EF4-FFF2-40B4-BE49-F238E27FC236}">
                <a16:creationId xmlns:a16="http://schemas.microsoft.com/office/drawing/2014/main" id="{E4FFFA27-AF32-9D93-EFD9-DCAD7C28E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838" y="-731838"/>
            <a:ext cx="2468563" cy="2468563"/>
          </a:xfrm>
          <a:prstGeom prst="ellipse">
            <a:avLst/>
          </a:prstGeom>
          <a:solidFill>
            <a:srgbClr val="2929CC">
              <a:alpha val="74117"/>
            </a:srgbClr>
          </a:solidFill>
          <a:ln w="12700">
            <a:solidFill>
              <a:srgbClr val="2929CC">
                <a:alpha val="74117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1" name="Shape 3">
            <a:extLst>
              <a:ext uri="{FF2B5EF4-FFF2-40B4-BE49-F238E27FC236}">
                <a16:creationId xmlns:a16="http://schemas.microsoft.com/office/drawing/2014/main" id="{D466DB19-C837-929B-189F-6406DA3F6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2925763"/>
            <a:ext cx="2286000" cy="2286000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Shape 4">
            <a:extLst>
              <a:ext uri="{FF2B5EF4-FFF2-40B4-BE49-F238E27FC236}">
                <a16:creationId xmlns:a16="http://schemas.microsoft.com/office/drawing/2014/main" id="{64C07D6A-8360-4F1D-41F8-0BD10AA4D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92075"/>
            <a:ext cx="274638" cy="273050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Shape 5">
            <a:extLst>
              <a:ext uri="{FF2B5EF4-FFF2-40B4-BE49-F238E27FC236}">
                <a16:creationId xmlns:a16="http://schemas.microsoft.com/office/drawing/2014/main" id="{B6C4C383-5741-A354-5CFF-E66209CE1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708525"/>
            <a:ext cx="201613" cy="201613"/>
          </a:xfrm>
          <a:prstGeom prst="ellipse">
            <a:avLst/>
          </a:prstGeom>
          <a:solidFill>
            <a:srgbClr val="2929CC"/>
          </a:solidFill>
          <a:ln w="12700">
            <a:solidFill>
              <a:srgbClr val="2929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4" name="Shape 6">
            <a:extLst>
              <a:ext uri="{FF2B5EF4-FFF2-40B4-BE49-F238E27FC236}">
                <a16:creationId xmlns:a16="http://schemas.microsoft.com/office/drawing/2014/main" id="{401741EB-A691-B6E1-F810-29EB7F108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20675"/>
            <a:ext cx="822325" cy="822325"/>
          </a:xfrm>
          <a:prstGeom prst="ellipse">
            <a:avLst/>
          </a:prstGeom>
          <a:solidFill>
            <a:srgbClr val="D6D6F8"/>
          </a:solidFill>
          <a:ln w="12700">
            <a:solidFill>
              <a:srgbClr val="D6D6F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5" name="Text 7">
            <a:extLst>
              <a:ext uri="{FF2B5EF4-FFF2-40B4-BE49-F238E27FC236}">
                <a16:creationId xmlns:a16="http://schemas.microsoft.com/office/drawing/2014/main" id="{14BF2D39-3AEC-5913-4898-7C24208C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320675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3000">
                <a:solidFill>
                  <a:srgbClr val="000000"/>
                </a:solidFill>
              </a:rPr>
              <a:t>🛡️</a:t>
            </a:r>
            <a:endParaRPr lang="en-US" altLang="en-US" sz="3000"/>
          </a:p>
        </p:txBody>
      </p:sp>
      <p:sp>
        <p:nvSpPr>
          <p:cNvPr id="29706" name="Text 8">
            <a:extLst>
              <a:ext uri="{FF2B5EF4-FFF2-40B4-BE49-F238E27FC236}">
                <a16:creationId xmlns:a16="http://schemas.microsoft.com/office/drawing/2014/main" id="{F7D8945B-17BA-29E1-A4E7-9E8A7197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83216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Merci pour</a:t>
            </a:r>
            <a:endParaRPr lang="en-US" altLang="en-US" sz="4400"/>
          </a:p>
          <a:p>
            <a:pPr algn="ctr" eaLnBrk="1" hangingPunct="1"/>
            <a:r>
              <a:rPr lang="en-US" altLang="en-US" sz="4400" b="1">
                <a:solidFill>
                  <a:srgbClr val="111827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votre attention</a:t>
            </a:r>
            <a:endParaRPr lang="en-US" altLang="en-US" sz="4400"/>
          </a:p>
        </p:txBody>
      </p:sp>
      <p:sp>
        <p:nvSpPr>
          <p:cNvPr id="29707" name="Shape 9">
            <a:extLst>
              <a:ext uri="{FF2B5EF4-FFF2-40B4-BE49-F238E27FC236}">
                <a16:creationId xmlns:a16="http://schemas.microsoft.com/office/drawing/2014/main" id="{3FA29F5E-1E7B-557C-7CFE-C4043148C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17838"/>
            <a:ext cx="2835275" cy="46037"/>
          </a:xfrm>
          <a:prstGeom prst="rect">
            <a:avLst/>
          </a:prstGeom>
          <a:solidFill>
            <a:srgbClr val="2929CC"/>
          </a:solidFill>
          <a:ln w="12700">
            <a:solidFill>
              <a:srgbClr val="2929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8" name="Text 10">
            <a:extLst>
              <a:ext uri="{FF2B5EF4-FFF2-40B4-BE49-F238E27FC236}">
                <a16:creationId xmlns:a16="http://schemas.microsoft.com/office/drawing/2014/main" id="{EC5DE015-A55D-CCA8-522F-C88082A19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54363"/>
            <a:ext cx="832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700" b="1">
                <a:solidFill>
                  <a:srgbClr val="2929CC"/>
                </a:solidFill>
              </a:rPr>
              <a:t>❓ Questions &amp; Discussions</a:t>
            </a:r>
            <a:endParaRPr lang="en-US" altLang="en-US" sz="1700"/>
          </a:p>
        </p:txBody>
      </p:sp>
      <p:sp>
        <p:nvSpPr>
          <p:cNvPr id="29709" name="Shape 11">
            <a:extLst>
              <a:ext uri="{FF2B5EF4-FFF2-40B4-BE49-F238E27FC236}">
                <a16:creationId xmlns:a16="http://schemas.microsoft.com/office/drawing/2014/main" id="{4EBAFCE4-B461-F55A-A08D-0E5DE58F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703638"/>
            <a:ext cx="2743200" cy="7762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0" name="Text 12">
            <a:extLst>
              <a:ext uri="{FF2B5EF4-FFF2-40B4-BE49-F238E27FC236}">
                <a16:creationId xmlns:a16="http://schemas.microsoft.com/office/drawing/2014/main" id="{465B312B-894F-476D-3354-CFF34BB0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749675"/>
            <a:ext cx="27432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2929CC"/>
                </a:solidFill>
              </a:rPr>
              <a:t>🎓 FATOMBI Olivier</a:t>
            </a:r>
            <a:endParaRPr lang="en-US" altLang="en-US" sz="1200"/>
          </a:p>
        </p:txBody>
      </p:sp>
      <p:sp>
        <p:nvSpPr>
          <p:cNvPr id="29711" name="Text 13">
            <a:extLst>
              <a:ext uri="{FF2B5EF4-FFF2-40B4-BE49-F238E27FC236}">
                <a16:creationId xmlns:a16="http://schemas.microsoft.com/office/drawing/2014/main" id="{F342D4F0-30EA-5656-3082-25B30331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0592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Concepteur &amp; Développeur</a:t>
            </a:r>
            <a:endParaRPr lang="en-US" altLang="en-US" sz="1000"/>
          </a:p>
        </p:txBody>
      </p:sp>
      <p:sp>
        <p:nvSpPr>
          <p:cNvPr id="29712" name="Shape 14">
            <a:extLst>
              <a:ext uri="{FF2B5EF4-FFF2-40B4-BE49-F238E27FC236}">
                <a16:creationId xmlns:a16="http://schemas.microsoft.com/office/drawing/2014/main" id="{A427BAAE-9F62-2301-51E7-254973342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703638"/>
            <a:ext cx="2743200" cy="7762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6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3" name="Text 15">
            <a:extLst>
              <a:ext uri="{FF2B5EF4-FFF2-40B4-BE49-F238E27FC236}">
                <a16:creationId xmlns:a16="http://schemas.microsoft.com/office/drawing/2014/main" id="{BC8B26BC-7947-A8F1-8DFE-D6DA1FC89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749675"/>
            <a:ext cx="27432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>
                <a:solidFill>
                  <a:srgbClr val="2929CC"/>
                </a:solidFill>
              </a:rPr>
              <a:t>🎓 GUERE Adolphe</a:t>
            </a:r>
            <a:endParaRPr lang="en-US" altLang="en-US" sz="1200"/>
          </a:p>
        </p:txBody>
      </p:sp>
      <p:sp>
        <p:nvSpPr>
          <p:cNvPr id="29714" name="Text 16">
            <a:extLst>
              <a:ext uri="{FF2B5EF4-FFF2-40B4-BE49-F238E27FC236}">
                <a16:creationId xmlns:a16="http://schemas.microsoft.com/office/drawing/2014/main" id="{44F30A6B-6558-1152-394B-65B7E8250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0592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Concepteur &amp; Développeur</a:t>
            </a:r>
            <a:endParaRPr lang="en-US" altLang="en-US" sz="1000"/>
          </a:p>
        </p:txBody>
      </p:sp>
      <p:sp>
        <p:nvSpPr>
          <p:cNvPr id="29715" name="Text 17">
            <a:extLst>
              <a:ext uri="{FF2B5EF4-FFF2-40B4-BE49-F238E27FC236}">
                <a16:creationId xmlns:a16="http://schemas.microsoft.com/office/drawing/2014/main" id="{609F799E-6C1F-858D-6EE2-D0038E5C7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91050"/>
            <a:ext cx="83216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solidFill>
                  <a:srgbClr val="6B7280"/>
                </a:solidFill>
              </a:rPr>
              <a:t>Licence Professionnelle SSRI · Institut Universitaire Les Cours Sonou · Mai 2026</a:t>
            </a:r>
            <a:endParaRPr lang="en-US" alt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 accent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ienvenue"/>
          <p:cNvSpPr txBox="1"/>
          <p:nvPr/>
        </p:nvSpPr>
        <p:spPr>
          <a:xfrm>
            <a:off x="685800" y="750000"/>
            <a:ext cx="77724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4800" b="1">
                <a:solidFill>
                  <a:srgbClr val="FFFFFF"/>
                </a:solidFill>
                <a:latin typeface="Aptos Display"/>
              </a:rPr>
              <a:t>Bienvenue à la soutenance</a:t>
            </a:r>
          </a:p>
        </p:txBody>
      </p:sp>
      <p:sp>
        <p:nvSpPr>
          <p:cNvPr id="4" name="Sous titre"/>
          <p:cNvSpPr txBox="1"/>
          <p:nvPr/>
        </p:nvSpPr>
        <p:spPr>
          <a:xfrm>
            <a:off x="914400" y="1530000"/>
            <a:ext cx="73152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2200">
                <a:solidFill>
                  <a:srgbClr val="CBD5E1"/>
                </a:solidFill>
                <a:latin typeface="Aptos"/>
              </a:rPr>
              <a:t>Conception d'une plateforme pédagogique de cybersécurité pour la simulation et la détection des cyberattaques dans une application web</a:t>
            </a:r>
          </a:p>
        </p:txBody>
      </p:sp>
      <p:sp>
        <p:nvSpPr>
          <p:cNvPr id="5" name="Nom projet"/>
          <p:cNvSpPr txBox="1"/>
          <p:nvPr/>
        </p:nvSpPr>
        <p:spPr>
          <a:xfrm>
            <a:off x="2880000" y="2600000"/>
            <a:ext cx="3384000" cy="520000"/>
          </a:xfrm>
          <a:prstGeom prst="roundRect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2DD4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3000" b="1">
                <a:solidFill>
                  <a:srgbClr val="FFFFFF"/>
                </a:solidFill>
                <a:latin typeface="Aptos Display"/>
              </a:rPr>
              <a:t>CyberGuard</a:t>
            </a:r>
          </a:p>
        </p:txBody>
      </p:sp>
      <p:sp>
        <p:nvSpPr>
          <p:cNvPr id="6" name="Binome"/>
          <p:cNvSpPr txBox="1"/>
          <p:nvPr/>
        </p:nvSpPr>
        <p:spPr>
          <a:xfrm>
            <a:off x="1371600" y="3420000"/>
            <a:ext cx="64008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1800">
                <a:solidFill>
                  <a:srgbClr val="94A3B8"/>
                </a:solidFill>
                <a:latin typeface="Aptos"/>
              </a:rPr>
              <a:t>Présenté par le binôme</a:t>
            </a:r>
          </a:p>
          <a:p>
            <a:pPr algn="ctr"/>
            <a:r>
              <a:rPr lang="fr-FR" sz="2600" b="1">
                <a:solidFill>
                  <a:srgbClr val="FFFFFF"/>
                </a:solidFill>
                <a:latin typeface="Aptos Display"/>
              </a:rPr>
              <a:t>FATOMBI Olivier  •  GUERE Adolphe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914400" y="4620000"/>
            <a:ext cx="73152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fr-FR" sz="1500">
                <a:solidFill>
                  <a:srgbClr val="64748B"/>
                </a:solidFill>
                <a:latin typeface="Aptos"/>
              </a:rPr>
              <a:t>Stage : COSIT Bénin  |  Supervision : Dr Issifou Bata IMOROU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vt="http://schemas.openxmlformats.org/officeDocument/2006/docPropsVTypes">
  <ns0:TotalTime>0</ns0:TotalTime>
  <ns0:Words>1243</ns0:Words>
  <ns0:Application>Microsoft Office PowerPoint</ns0:Application>
  <ns0:PresentationFormat>Affichage à l'écran (16:9)</ns0:PresentationFormat>
  <ns0:Paragraphs>282</ns0:Paragraphs>
  <ns0:Slides>22</ns0:Slides>
  <ns0:Notes>21</ns0:Notes>
  <ns0:HiddenSlides>0</ns0:HiddenSlides>
  <ns0:MMClips>0</ns0:MMClips>
  <ns0:ScaleCrop>false</ns0:ScaleCrop>
  <ns0: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ns0:HeadingPairs>
  <ns0:TitlesOfParts>
    <vt:vector size="22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word</cp:lastModifiedBy>
  <cp:revision>945</cp:revision>
  <dcterms:created xsi:type="dcterms:W3CDTF">2026-05-24T07:27:12Z</dcterms:created>
  <dcterms:modified xsi:type="dcterms:W3CDTF">2026-06-02T08:21:47Z</dcterms:modified>
</cp:coreProperties>
</file>